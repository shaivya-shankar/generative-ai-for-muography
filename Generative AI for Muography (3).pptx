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5.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1fea47df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1fea47df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1fea47df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81fea47df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1fea47df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1fea47df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1fea47df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1fea47df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1fea47df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81fea47df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1fea47df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1fea47df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1fea47df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1fea47df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1fea47df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1fea47df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1fea47df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1fea47df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1fea47df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1fea47df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1fea47df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1fea47df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1fea47df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1fea47dfd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1fea47df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1fea47df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1fea47df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1fea47df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1fea47dfd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1fea47dfd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1fea47df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1fea47df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1fea47dfd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1fea47df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1fea47dfd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81fea47dfd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1fea47df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1fea47df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1fea47dfd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1fea47dfd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1fea47dfd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81fea47dfd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1fea47dfd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81fea47dfd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81fea47dfd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81fea47dfd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1fea47df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81fea47df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81fea47dfd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81fea47dfd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1fea47dfd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1fea47df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1fea47dfd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1fea47df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81fea47dfd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81fea47df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1fea47dfd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81fea47dfd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hyperlink" Target="https://proceedings.neurips.cc/paper_files/paper/2014/file/f033ed80deb0234979a61f95710dbe25-Paper.pdf" TargetMode="External"/><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proceedings.mlr.press/v97/kurach19a/kurach19a.pdf" TargetMode="External"/><Relationship Id="rId4" Type="http://schemas.openxmlformats.org/officeDocument/2006/relationships/hyperlink" Target="https://proceedings.mlr.press/v97/kurach19a/kurach19a.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558642" y="1580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Generative AI for Muography</a:t>
            </a:r>
            <a:endParaRPr/>
          </a:p>
        </p:txBody>
      </p:sp>
      <p:sp>
        <p:nvSpPr>
          <p:cNvPr id="55" name="Google Shape;55;p13"/>
          <p:cNvSpPr txBox="1"/>
          <p:nvPr>
            <p:ph idx="1" type="subTitle"/>
          </p:nvPr>
        </p:nvSpPr>
        <p:spPr>
          <a:xfrm>
            <a:off x="311700" y="2834125"/>
            <a:ext cx="8520600" cy="11610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Author : Shaivya Shankar, </a:t>
            </a:r>
            <a:br>
              <a:rPr lang="en"/>
            </a:br>
            <a:r>
              <a:rPr lang="en"/>
              <a:t>Supervised by Dr.Sudarshan Premavarsan and Dr.Florian Bury</a:t>
            </a:r>
            <a:endParaRPr/>
          </a:p>
        </p:txBody>
      </p:sp>
      <p:pic>
        <p:nvPicPr>
          <p:cNvPr id="56" name="Google Shape;56;p13"/>
          <p:cNvPicPr preferRelativeResize="0"/>
          <p:nvPr/>
        </p:nvPicPr>
        <p:blipFill>
          <a:blip r:embed="rId3">
            <a:alphaModFix/>
          </a:blip>
          <a:stretch>
            <a:fillRect/>
          </a:stretch>
        </p:blipFill>
        <p:spPr>
          <a:xfrm>
            <a:off x="5420250" y="158025"/>
            <a:ext cx="3412057" cy="1211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418275"/>
            <a:ext cx="8520600" cy="504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SzPct val="40408"/>
              <a:buNone/>
            </a:pPr>
            <a:r>
              <a:rPr lang="en" sz="2450"/>
              <a:t>Main Questions</a:t>
            </a:r>
            <a:endParaRPr sz="2180"/>
          </a:p>
        </p:txBody>
      </p:sp>
      <p:sp>
        <p:nvSpPr>
          <p:cNvPr id="62" name="Google Shape;62;p14"/>
          <p:cNvSpPr txBox="1"/>
          <p:nvPr>
            <p:ph idx="1" type="subTitle"/>
          </p:nvPr>
        </p:nvSpPr>
        <p:spPr>
          <a:xfrm>
            <a:off x="903150" y="1149575"/>
            <a:ext cx="73377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a:t>Finding Optimal GAN for </a:t>
            </a:r>
            <a:r>
              <a:rPr lang="en"/>
              <a:t>Muon Propagation</a:t>
            </a:r>
            <a:r>
              <a:rPr lang="en"/>
              <a:t> ?</a:t>
            </a:r>
            <a:endParaRPr/>
          </a:p>
        </p:txBody>
      </p:sp>
      <p:sp>
        <p:nvSpPr>
          <p:cNvPr id="63" name="Google Shape;63;p14"/>
          <p:cNvSpPr txBox="1"/>
          <p:nvPr/>
        </p:nvSpPr>
        <p:spPr>
          <a:xfrm>
            <a:off x="397850" y="2351850"/>
            <a:ext cx="8520600" cy="2063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n" sz="1800">
                <a:solidFill>
                  <a:schemeClr val="dk2"/>
                </a:solidFill>
              </a:rPr>
              <a:t>Key topics Covered: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implemented Vanila GAN based on 2014 GAN.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Explored </a:t>
            </a:r>
            <a:r>
              <a:rPr lang="en" sz="1800">
                <a:solidFill>
                  <a:schemeClr val="dk2"/>
                </a:solidFill>
              </a:rPr>
              <a:t>different scaling techniques.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Various</a:t>
            </a:r>
            <a:r>
              <a:rPr lang="en" sz="1800">
                <a:solidFill>
                  <a:schemeClr val="dk2"/>
                </a:solidFill>
              </a:rPr>
              <a:t> Normalization</a:t>
            </a:r>
            <a:r>
              <a:rPr lang="en" sz="1800">
                <a:solidFill>
                  <a:schemeClr val="dk2"/>
                </a:solidFill>
              </a:rPr>
              <a:t> technique for stablizing the Data For GAN</a:t>
            </a:r>
            <a:endParaRPr sz="1800">
              <a:solidFill>
                <a:schemeClr val="dk2"/>
              </a:solidFill>
            </a:endParaRPr>
          </a:p>
          <a:p>
            <a:pPr indent="-342900" lvl="0" marL="457200" rtl="0" algn="l">
              <a:spcBef>
                <a:spcPts val="0"/>
              </a:spcBef>
              <a:spcAft>
                <a:spcPts val="0"/>
              </a:spcAft>
              <a:buClr>
                <a:schemeClr val="dk2"/>
              </a:buClr>
              <a:buSzPts val="1800"/>
              <a:buChar char="●"/>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muography</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en" sz="1100">
                <a:solidFill>
                  <a:schemeClr val="dk1"/>
                </a:solidFill>
              </a:rPr>
              <a:t>The core of muography is understanding a muon's trajectory through matter.</a:t>
            </a:r>
            <a:r>
              <a:rPr lang="en" sz="1100">
                <a:solidFill>
                  <a:schemeClr val="dk1"/>
                </a:solidFill>
              </a:rPr>
              <a:t> We use natural cosmic-ray muons to create density maps of large-scale structures like volcanoes or pyramids.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Predicting these paths requires computationally expensive simulations like </a:t>
            </a:r>
            <a:r>
              <a:rPr b="1" lang="en" sz="1100">
                <a:solidFill>
                  <a:schemeClr val="dk1"/>
                </a:solidFill>
              </a:rPr>
              <a:t>Geant4</a:t>
            </a:r>
            <a:r>
              <a:rPr lang="en" sz="1100">
                <a:solidFill>
                  <a:schemeClr val="dk1"/>
                </a:solidFill>
              </a:rPr>
              <a:t>. This is because a muon's journey is inherently random, or </a:t>
            </a:r>
            <a:r>
              <a:rPr b="1" lang="en" sz="1100">
                <a:solidFill>
                  <a:schemeClr val="dk1"/>
                </a:solidFill>
              </a:rPr>
              <a:t>stochastic</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governed by the complex physics of its interactions at every step. While Geant4 is the gold standard for accuracy, its step-by-step simulation process is very slow.</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This computational cost is the primary motivation for this project.</a:t>
            </a:r>
            <a:r>
              <a:rPr lang="en" sz="1100">
                <a:solidFill>
                  <a:schemeClr val="dk1"/>
                </a:solidFill>
              </a:rPr>
              <a:t> The time required to generate millions of tracks for a high-resolution image creates a significant bottleneck in the field, limiting research and rapid prototyping.</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goal is to solve this by developing a fast, AI-based model—a </a:t>
            </a:r>
            <a:r>
              <a:rPr b="1" lang="en" sz="1100">
                <a:solidFill>
                  <a:schemeClr val="dk1"/>
                </a:solidFill>
              </a:rPr>
              <a:t>Generative Adversarial Network (GAN)</a:t>
            </a:r>
            <a:r>
              <a:rPr lang="en" sz="1100">
                <a:solidFill>
                  <a:schemeClr val="dk1"/>
                </a:solidFill>
              </a:rPr>
              <a:t>—that learns the underlying probability distribution of these physical interactions directly from Geant4 data. The GAN learns to instantly predict the outcome of a simulation step (the changes in momentum, angle, and position) based on the muon's current state.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By replacing the intensive step-by-step calculation with a single forward pass of a neural network, the GAN can serve as a </a:t>
            </a:r>
            <a:r>
              <a:rPr b="1" lang="en" sz="1100">
                <a:solidFill>
                  <a:schemeClr val="dk1"/>
                </a:solidFill>
              </a:rPr>
              <a:t>high-speed complement</a:t>
            </a:r>
            <a:r>
              <a:rPr lang="en" sz="1100">
                <a:solidFill>
                  <a:schemeClr val="dk1"/>
                </a:solidFill>
              </a:rPr>
              <a:t> to traditional methods, enabling studies that would otherwise be computationally prohibitive.</a:t>
            </a:r>
            <a:endParaRPr sz="1100">
              <a:solidFill>
                <a:schemeClr val="dk1"/>
              </a:solidFill>
            </a:endParaRPr>
          </a:p>
        </p:txBody>
      </p:sp>
      <p:sp>
        <p:nvSpPr>
          <p:cNvPr id="70" name="Google Shape;70;p15"/>
          <p:cNvSpPr txBox="1"/>
          <p:nvPr/>
        </p:nvSpPr>
        <p:spPr>
          <a:xfrm>
            <a:off x="2187900" y="2516300"/>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t>
            </a:r>
            <a:r>
              <a:rPr lang="en"/>
              <a:t>he Physics of a Single Muon Step</a:t>
            </a:r>
            <a:endParaRPr/>
          </a:p>
        </p:txBody>
      </p:sp>
      <p:sp>
        <p:nvSpPr>
          <p:cNvPr id="76" name="Google Shape;76;p16"/>
          <p:cNvSpPr txBox="1"/>
          <p:nvPr>
            <p:ph idx="1" type="body"/>
          </p:nvPr>
        </p:nvSpPr>
        <p:spPr>
          <a:xfrm>
            <a:off x="311700" y="1152475"/>
            <a:ext cx="71505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Clr>
                <a:schemeClr val="dk1"/>
              </a:buClr>
              <a:buSzPct val="100000"/>
              <a:buFont typeface="Arial"/>
              <a:buNone/>
            </a:pPr>
            <a:r>
              <a:rPr lang="en" sz="1100">
                <a:solidFill>
                  <a:schemeClr val="dk1"/>
                </a:solidFill>
              </a:rPr>
              <a:t>The simulation of a muon's path is modeled as a sequence of discrete steps. The nature of these steps is primarily determined by the properties of the material the muon travels through, which is characterized by a single parameter:</a:t>
            </a:r>
            <a:endParaRPr sz="1100">
              <a:solidFill>
                <a:schemeClr val="dk1"/>
              </a:solidFill>
            </a:endParaRPr>
          </a:p>
          <a:p>
            <a:pPr indent="-287972" lvl="0" marL="457200" rtl="0" algn="l">
              <a:spcBef>
                <a:spcPts val="1200"/>
              </a:spcBef>
              <a:spcAft>
                <a:spcPts val="0"/>
              </a:spcAft>
              <a:buClr>
                <a:schemeClr val="dk1"/>
              </a:buClr>
              <a:buSzPct val="100000"/>
              <a:buChar char="●"/>
            </a:pPr>
            <a:r>
              <a:rPr b="1" lang="en" sz="1100">
                <a:solidFill>
                  <a:schemeClr val="dk1"/>
                </a:solidFill>
              </a:rPr>
              <a:t>Radiation Length (X₀):</a:t>
            </a:r>
            <a:r>
              <a:rPr lang="en" sz="1100">
                <a:solidFill>
                  <a:schemeClr val="dk1"/>
                </a:solidFill>
              </a:rPr>
              <a:t> A fundamental property of a material that quantifies how effectively it causes a high-energy particle to scatter and lose energy.</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This material property then directly influences the three key outcomes of any single interaction step:</a:t>
            </a:r>
            <a:endParaRPr sz="1100">
              <a:solidFill>
                <a:schemeClr val="dk1"/>
              </a:solidFill>
            </a:endParaRPr>
          </a:p>
          <a:p>
            <a:pPr indent="-287972" lvl="0" marL="457200" rtl="0" algn="l">
              <a:spcBef>
                <a:spcPts val="1200"/>
              </a:spcBef>
              <a:spcAft>
                <a:spcPts val="0"/>
              </a:spcAft>
              <a:buClr>
                <a:schemeClr val="dk1"/>
              </a:buClr>
              <a:buSzPct val="100000"/>
              <a:buChar char="●"/>
            </a:pPr>
            <a:r>
              <a:rPr b="1" lang="en" sz="1100">
                <a:solidFill>
                  <a:schemeClr val="dk1"/>
                </a:solidFill>
              </a:rPr>
              <a:t>Momentum Loss (</a:t>
            </a:r>
            <a:r>
              <a:rPr b="1" lang="en" sz="1100">
                <a:solidFill>
                  <a:srgbClr val="188038"/>
                </a:solidFill>
                <a:latin typeface="Roboto Mono"/>
                <a:ea typeface="Roboto Mono"/>
                <a:cs typeface="Roboto Mono"/>
                <a:sym typeface="Roboto Mono"/>
              </a:rPr>
              <a:t>-ΔP</a:t>
            </a:r>
            <a:r>
              <a:rPr b="1" lang="en" sz="1100">
                <a:solidFill>
                  <a:schemeClr val="dk1"/>
                </a:solidFill>
              </a:rPr>
              <a:t>)</a:t>
            </a:r>
            <a:endParaRPr b="1"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The energy the muon loses, primarily through </a:t>
            </a:r>
            <a:r>
              <a:rPr b="1" lang="en" sz="1100">
                <a:solidFill>
                  <a:schemeClr val="dk1"/>
                </a:solidFill>
              </a:rPr>
              <a:t>ionization</a:t>
            </a:r>
            <a:r>
              <a:rPr lang="en" sz="1100">
                <a:solidFill>
                  <a:schemeClr val="dk1"/>
                </a:solidFill>
              </a:rPr>
              <a:t>. The magnitude of this loss is strongly dependent on the material's density, which is related to X₀.</a:t>
            </a: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Scattering Angle (</a:t>
            </a:r>
            <a:r>
              <a:rPr b="1" lang="en" sz="1100">
                <a:solidFill>
                  <a:srgbClr val="188038"/>
                </a:solidFill>
                <a:latin typeface="Roboto Mono"/>
                <a:ea typeface="Roboto Mono"/>
                <a:cs typeface="Roboto Mono"/>
                <a:sym typeface="Roboto Mono"/>
              </a:rPr>
              <a:t>Δθ</a:t>
            </a:r>
            <a:r>
              <a:rPr b="1" lang="en" sz="1100">
                <a:solidFill>
                  <a:schemeClr val="dk1"/>
                </a:solidFill>
              </a:rPr>
              <a:t>)</a:t>
            </a:r>
            <a:endParaRPr b="1"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The random change in the muon's direction due to </a:t>
            </a:r>
            <a:r>
              <a:rPr b="1" lang="en" sz="1100">
                <a:solidFill>
                  <a:schemeClr val="dk1"/>
                </a:solidFill>
              </a:rPr>
              <a:t>Multiple Coulomb Scattering</a:t>
            </a:r>
            <a:r>
              <a:rPr lang="en" sz="1100">
                <a:solidFill>
                  <a:schemeClr val="dk1"/>
                </a:solidFill>
              </a:rPr>
              <a:t>. The magnitude of this scattering is directly governed by the material's </a:t>
            </a:r>
            <a:r>
              <a:rPr b="1" lang="en" sz="1100">
                <a:solidFill>
                  <a:schemeClr val="dk1"/>
                </a:solidFill>
              </a:rPr>
              <a:t>Radiation Length (X₀)</a:t>
            </a:r>
            <a:r>
              <a:rPr lang="en" sz="1100">
                <a:solidFill>
                  <a:schemeClr val="dk1"/>
                </a:solidFill>
              </a:rPr>
              <a:t>.</a:t>
            </a:r>
            <a:endParaRPr sz="1100">
              <a:solidFill>
                <a:schemeClr val="dk1"/>
              </a:solidFill>
            </a:endParaRPr>
          </a:p>
          <a:p>
            <a:pPr indent="-287972" lvl="0" marL="457200" rtl="0" algn="l">
              <a:spcBef>
                <a:spcPts val="0"/>
              </a:spcBef>
              <a:spcAft>
                <a:spcPts val="0"/>
              </a:spcAft>
              <a:buClr>
                <a:schemeClr val="dk1"/>
              </a:buClr>
              <a:buSzPct val="100000"/>
              <a:buChar char="●"/>
            </a:pPr>
            <a:r>
              <a:rPr b="1" lang="en" sz="1100">
                <a:solidFill>
                  <a:schemeClr val="dk1"/>
                </a:solidFill>
              </a:rPr>
              <a:t>Step Length (</a:t>
            </a:r>
            <a:r>
              <a:rPr b="1" lang="en" sz="1100">
                <a:solidFill>
                  <a:srgbClr val="188038"/>
                </a:solidFill>
                <a:latin typeface="Roboto Mono"/>
                <a:ea typeface="Roboto Mono"/>
                <a:cs typeface="Roboto Mono"/>
                <a:sym typeface="Roboto Mono"/>
              </a:rPr>
              <a:t>Δr</a:t>
            </a:r>
            <a:r>
              <a:rPr b="1" lang="en" sz="1100">
                <a:solidFill>
                  <a:schemeClr val="dk1"/>
                </a:solidFill>
              </a:rPr>
              <a:t>)</a:t>
            </a:r>
            <a:endParaRPr b="1" sz="1100">
              <a:solidFill>
                <a:schemeClr val="dk1"/>
              </a:solidFill>
            </a:endParaRPr>
          </a:p>
          <a:p>
            <a:pPr indent="-287972" lvl="1" marL="914400" rtl="0" algn="l">
              <a:spcBef>
                <a:spcPts val="0"/>
              </a:spcBef>
              <a:spcAft>
                <a:spcPts val="0"/>
              </a:spcAft>
              <a:buClr>
                <a:schemeClr val="dk1"/>
              </a:buClr>
              <a:buSzPct val="100000"/>
              <a:buChar char="○"/>
            </a:pPr>
            <a:r>
              <a:rPr lang="en" sz="1100">
                <a:solidFill>
                  <a:schemeClr val="dk1"/>
                </a:solidFill>
              </a:rPr>
              <a:t>The physical distance the muon travels in one step. This distance is also determined by the material properties encapsulated by </a:t>
            </a:r>
            <a:r>
              <a:rPr b="1" lang="en" sz="1100">
                <a:solidFill>
                  <a:schemeClr val="dk1"/>
                </a:solidFill>
              </a:rPr>
              <a:t>X₀</a:t>
            </a:r>
            <a:r>
              <a:rPr lang="en" sz="1100">
                <a:solidFill>
                  <a:schemeClr val="dk1"/>
                </a:solidFill>
              </a:rPr>
              <a:t>; steps are much shorter in low-X₀ materials and longer in high-X₀ materials.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The Core Simulation Task:</a:t>
            </a:r>
            <a:r>
              <a:rPr lang="en" sz="1100">
                <a:solidFill>
                  <a:schemeClr val="dk1"/>
                </a:solidFill>
              </a:rPr>
              <a:t> These three outcomes are not independent; they are governed by a complex </a:t>
            </a:r>
            <a:r>
              <a:rPr b="1" lang="en" sz="1100">
                <a:solidFill>
                  <a:schemeClr val="dk1"/>
                </a:solidFill>
              </a:rPr>
              <a:t>joint probability distribution</a:t>
            </a:r>
            <a:r>
              <a:rPr lang="en" sz="1100">
                <a:solidFill>
                  <a:schemeClr val="dk1"/>
                </a:solidFill>
              </a:rPr>
              <a:t>. An accurate simulator must correctly model these physical correlations, conditioned on the muon's energy and the material properties (represented by </a:t>
            </a:r>
            <a:r>
              <a:rPr b="1" lang="en" sz="1100">
                <a:solidFill>
                  <a:schemeClr val="dk1"/>
                </a:solidFill>
              </a:rPr>
              <a:t>X₀</a:t>
            </a:r>
            <a:r>
              <a:rPr lang="en" sz="1100">
                <a:solidFill>
                  <a:schemeClr val="dk1"/>
                </a:solidFill>
              </a:rPr>
              <a:t>)</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Generative </a:t>
            </a:r>
            <a:r>
              <a:rPr lang="en"/>
              <a:t>Adversarial</a:t>
            </a:r>
            <a:r>
              <a:rPr lang="en"/>
              <a:t> Network</a:t>
            </a:r>
            <a:endParaRPr/>
          </a:p>
        </p:txBody>
      </p:sp>
      <p:pic>
        <p:nvPicPr>
          <p:cNvPr id="82" name="Google Shape;82;p17"/>
          <p:cNvPicPr preferRelativeResize="0"/>
          <p:nvPr/>
        </p:nvPicPr>
        <p:blipFill>
          <a:blip r:embed="rId3">
            <a:alphaModFix/>
          </a:blip>
          <a:stretch>
            <a:fillRect/>
          </a:stretch>
        </p:blipFill>
        <p:spPr>
          <a:xfrm>
            <a:off x="4928199" y="2130500"/>
            <a:ext cx="4240950" cy="552450"/>
          </a:xfrm>
          <a:prstGeom prst="rect">
            <a:avLst/>
          </a:prstGeom>
          <a:noFill/>
          <a:ln>
            <a:noFill/>
          </a:ln>
        </p:spPr>
      </p:pic>
      <p:pic>
        <p:nvPicPr>
          <p:cNvPr id="83" name="Google Shape;83;p17"/>
          <p:cNvPicPr preferRelativeResize="0"/>
          <p:nvPr/>
        </p:nvPicPr>
        <p:blipFill>
          <a:blip r:embed="rId4">
            <a:alphaModFix/>
          </a:blip>
          <a:stretch>
            <a:fillRect/>
          </a:stretch>
        </p:blipFill>
        <p:spPr>
          <a:xfrm>
            <a:off x="5038675" y="3517125"/>
            <a:ext cx="4063400" cy="490025"/>
          </a:xfrm>
          <a:prstGeom prst="rect">
            <a:avLst/>
          </a:prstGeom>
          <a:noFill/>
          <a:ln>
            <a:noFill/>
          </a:ln>
        </p:spPr>
      </p:pic>
      <p:sp>
        <p:nvSpPr>
          <p:cNvPr id="84" name="Google Shape;84;p17"/>
          <p:cNvSpPr txBox="1"/>
          <p:nvPr/>
        </p:nvSpPr>
        <p:spPr>
          <a:xfrm>
            <a:off x="5123925" y="3092625"/>
            <a:ext cx="39783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GAN's objective function at its optimal point</a:t>
            </a:r>
            <a:endParaRPr sz="1800">
              <a:solidFill>
                <a:schemeClr val="dk2"/>
              </a:solidFill>
            </a:endParaRPr>
          </a:p>
        </p:txBody>
      </p:sp>
      <p:sp>
        <p:nvSpPr>
          <p:cNvPr id="85" name="Google Shape;85;p17"/>
          <p:cNvSpPr txBox="1"/>
          <p:nvPr/>
        </p:nvSpPr>
        <p:spPr>
          <a:xfrm>
            <a:off x="5384900" y="1461500"/>
            <a:ext cx="29904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Objective Function</a:t>
            </a:r>
            <a:endParaRPr sz="1800">
              <a:solidFill>
                <a:schemeClr val="dk2"/>
              </a:solidFill>
            </a:endParaRPr>
          </a:p>
        </p:txBody>
      </p:sp>
      <p:sp>
        <p:nvSpPr>
          <p:cNvPr id="86" name="Google Shape;86;p17"/>
          <p:cNvSpPr txBox="1"/>
          <p:nvPr/>
        </p:nvSpPr>
        <p:spPr>
          <a:xfrm>
            <a:off x="7541600" y="160700"/>
            <a:ext cx="1181700" cy="28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5"/>
              </a:rPr>
              <a:t>2014</a:t>
            </a:r>
            <a:endParaRPr sz="1800">
              <a:solidFill>
                <a:schemeClr val="dk2"/>
              </a:solidFill>
            </a:endParaRPr>
          </a:p>
        </p:txBody>
      </p:sp>
      <p:pic>
        <p:nvPicPr>
          <p:cNvPr id="87" name="Google Shape;87;p17"/>
          <p:cNvPicPr preferRelativeResize="0"/>
          <p:nvPr/>
        </p:nvPicPr>
        <p:blipFill>
          <a:blip r:embed="rId6">
            <a:alphaModFix/>
          </a:blip>
          <a:stretch>
            <a:fillRect/>
          </a:stretch>
        </p:blipFill>
        <p:spPr>
          <a:xfrm>
            <a:off x="125950" y="1493875"/>
            <a:ext cx="4504553" cy="2155750"/>
          </a:xfrm>
          <a:prstGeom prst="rect">
            <a:avLst/>
          </a:prstGeom>
          <a:noFill/>
          <a:ln>
            <a:noFill/>
          </a:ln>
        </p:spPr>
      </p:pic>
      <p:sp>
        <p:nvSpPr>
          <p:cNvPr id="88" name="Google Shape;88;p17"/>
          <p:cNvSpPr txBox="1"/>
          <p:nvPr/>
        </p:nvSpPr>
        <p:spPr>
          <a:xfrm>
            <a:off x="477225" y="3838425"/>
            <a:ext cx="3889500" cy="3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In this project Generator takes </a:t>
            </a:r>
            <a:br>
              <a:rPr lang="en" sz="1800">
                <a:solidFill>
                  <a:schemeClr val="dk2"/>
                </a:solidFill>
              </a:rPr>
            </a:br>
            <a:r>
              <a:rPr lang="en" sz="1800">
                <a:solidFill>
                  <a:schemeClr val="dk2"/>
                </a:solidFill>
              </a:rPr>
              <a:t>Random noise which represents Initial momentum and outputs </a:t>
            </a:r>
            <a:r>
              <a:rPr b="1" lang="en" sz="1100">
                <a:solidFill>
                  <a:srgbClr val="188038"/>
                </a:solidFill>
                <a:latin typeface="Roboto Mono"/>
                <a:ea typeface="Roboto Mono"/>
                <a:cs typeface="Roboto Mono"/>
                <a:sym typeface="Roboto Mono"/>
              </a:rPr>
              <a:t>-ΔP,Δθ,Δr</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700"/>
              <a:t>Why Choose a GAN? Strengths &amp; Challenges</a:t>
            </a:r>
            <a:endParaRPr sz="3200"/>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Pros: The Advantages of Using a GAN</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Very Detailed &amp; Sharp Generation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Implicit Learning of Complex Distributions</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Cons: The Challenges of Training a GAN</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Training Instability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Hyperparameter Sensitivity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Mode Collapse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Poor Mode Coverage</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Scaling: A Critical Step for GAN Training</a:t>
            </a:r>
            <a:endParaRPr/>
          </a:p>
        </p:txBody>
      </p:sp>
      <p:sp>
        <p:nvSpPr>
          <p:cNvPr id="100" name="Google Shape;100;p19"/>
          <p:cNvSpPr txBox="1"/>
          <p:nvPr>
            <p:ph idx="1" type="body"/>
          </p:nvPr>
        </p:nvSpPr>
        <p:spPr>
          <a:xfrm>
            <a:off x="311700" y="1178950"/>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700">
                <a:solidFill>
                  <a:schemeClr val="dk1"/>
                </a:solidFill>
              </a:rPr>
              <a:t>Finding the Best Data Transformation</a:t>
            </a:r>
            <a:endParaRPr b="1" sz="1700">
              <a:solidFill>
                <a:schemeClr val="dk1"/>
              </a:solidFill>
            </a:endParaRPr>
          </a:p>
          <a:p>
            <a:pPr indent="0" lvl="0" marL="0" rtl="0" algn="l">
              <a:spcBef>
                <a:spcPts val="1200"/>
              </a:spcBef>
              <a:spcAft>
                <a:spcPts val="0"/>
              </a:spcAft>
              <a:buNone/>
            </a:pPr>
            <a:r>
              <a:rPr b="1" lang="en" sz="1100">
                <a:solidFill>
                  <a:schemeClr val="dk1"/>
                </a:solidFill>
              </a:rPr>
              <a:t>The Problem: Scaling's Impact on Data Distribution</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Raw physics data is challenging. Variables like momentum span many orders of magnitude, which is problematic for neural networks.</a:t>
            </a:r>
            <a:endParaRPr sz="1100">
              <a:solidFill>
                <a:schemeClr val="dk1"/>
              </a:solidFill>
            </a:endParaRPr>
          </a:p>
          <a:p>
            <a:pPr indent="-298450" lvl="0" marL="457200" rtl="0" algn="l">
              <a:spcBef>
                <a:spcPts val="0"/>
              </a:spcBef>
              <a:spcAft>
                <a:spcPts val="0"/>
              </a:spcAft>
              <a:buClr>
                <a:schemeClr val="dk1"/>
              </a:buClr>
              <a:buSzPts val="1100"/>
              <a:buChar char="●"/>
            </a:pPr>
            <a:r>
              <a:rPr lang="en" sz="1200">
                <a:solidFill>
                  <a:schemeClr val="dk1"/>
                </a:solidFill>
                <a:latin typeface="Roboto"/>
                <a:ea typeface="Roboto"/>
                <a:cs typeface="Roboto"/>
                <a:sym typeface="Roboto"/>
              </a:rPr>
              <a:t>Scaling data to the range of [-1, 1] is a critical preprocessing step for training most Generative Adversarial Networks (GANs), primarily to ensure training stability and effective learning.</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But </a:t>
            </a:r>
            <a:r>
              <a:rPr lang="en" sz="1200">
                <a:solidFill>
                  <a:schemeClr val="dk1"/>
                </a:solidFill>
                <a:latin typeface="Roboto"/>
                <a:ea typeface="Roboto"/>
                <a:cs typeface="Roboto"/>
                <a:sym typeface="Roboto"/>
              </a:rPr>
              <a:t>Scaling</a:t>
            </a:r>
            <a:r>
              <a:rPr lang="en" sz="1200">
                <a:solidFill>
                  <a:schemeClr val="dk1"/>
                </a:solidFill>
                <a:latin typeface="Roboto"/>
                <a:ea typeface="Roboto"/>
                <a:cs typeface="Roboto"/>
                <a:sym typeface="Roboto"/>
              </a:rPr>
              <a:t> leeds to Distortion in the underlying distribution of the Data which can observed using 1 D histogram plot, and one </a:t>
            </a:r>
            <a:r>
              <a:rPr lang="en" sz="1200">
                <a:solidFill>
                  <a:schemeClr val="dk1"/>
                </a:solidFill>
                <a:latin typeface="Roboto"/>
                <a:ea typeface="Roboto"/>
                <a:cs typeface="Roboto"/>
                <a:sym typeface="Roboto"/>
              </a:rPr>
              <a:t>specific</a:t>
            </a:r>
            <a:r>
              <a:rPr lang="en" sz="1200">
                <a:solidFill>
                  <a:schemeClr val="dk1"/>
                </a:solidFill>
                <a:latin typeface="Roboto"/>
                <a:ea typeface="Roboto"/>
                <a:cs typeface="Roboto"/>
                <a:sym typeface="Roboto"/>
              </a:rPr>
              <a:t> to this project 2D Correlation plot.</a:t>
            </a:r>
            <a:endParaRPr sz="1200">
              <a:solidFill>
                <a:schemeClr val="dk1"/>
              </a:solidFill>
              <a:latin typeface="Roboto"/>
              <a:ea typeface="Roboto"/>
              <a:cs typeface="Roboto"/>
              <a:sym typeface="Roboto"/>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t/>
            </a:r>
            <a:endParaRPr b="1"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200"/>
              </a:spcAft>
              <a:buClr>
                <a:schemeClr val="dk1"/>
              </a:buClr>
              <a:buSzPts val="1100"/>
              <a:buFont typeface="Arial"/>
              <a:buNone/>
            </a:pPr>
            <a:r>
              <a:rPr b="1" lang="en" sz="2100"/>
              <a:t>GANDataset_test</a:t>
            </a:r>
            <a:endParaRPr sz="2400"/>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en" sz="1740">
                <a:solidFill>
                  <a:schemeClr val="dk1"/>
                </a:solidFill>
              </a:rPr>
              <a:t>Function: </a:t>
            </a:r>
            <a:r>
              <a:rPr b="1" lang="en" sz="1882">
                <a:solidFill>
                  <a:schemeClr val="dk1"/>
                </a:solidFill>
              </a:rPr>
              <a:t>Takes the raw .root file and applies all the mentioned, Normalization Techniques: </a:t>
            </a:r>
            <a:endParaRPr b="1" sz="1882">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Setup &amp; Configuration</a:t>
            </a:r>
            <a:endParaRPr b="1" sz="1100">
              <a:solidFill>
                <a:schemeClr val="dk1"/>
              </a:solidFill>
            </a:endParaRPr>
          </a:p>
          <a:p>
            <a:pPr indent="-272256" lvl="0" marL="457200" rtl="0" algn="l">
              <a:spcBef>
                <a:spcPts val="120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__init__(self, ...)</a:t>
            </a:r>
            <a:r>
              <a:rPr b="1" lang="en" sz="1100">
                <a:solidFill>
                  <a:schemeClr val="dk1"/>
                </a:solidFill>
              </a:rPr>
              <a:t>:</a:t>
            </a:r>
            <a:r>
              <a:rPr lang="en" sz="1100">
                <a:solidFill>
                  <a:schemeClr val="dk1"/>
                </a:solidFill>
              </a:rPr>
              <a:t> Initializes the experiment by setting up the list of transformations to test.</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plotting_config(self)</a:t>
            </a:r>
            <a:r>
              <a:rPr b="1" lang="en" sz="1100">
                <a:solidFill>
                  <a:schemeClr val="dk1"/>
                </a:solidFill>
              </a:rPr>
              <a:t>:</a:t>
            </a:r>
            <a:r>
              <a:rPr lang="en" sz="1100">
                <a:solidFill>
                  <a:schemeClr val="dk1"/>
                </a:solidFill>
              </a:rPr>
              <a:t> Provides a centralized dictionary of labels and settings for consistent plotting.</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Core Data Processing</a:t>
            </a:r>
            <a:endParaRPr b="1" sz="1100">
              <a:solidFill>
                <a:schemeClr val="dk1"/>
              </a:solidFill>
            </a:endParaRPr>
          </a:p>
          <a:p>
            <a:pPr indent="-272256" lvl="0" marL="457200" rtl="0" algn="l">
              <a:spcBef>
                <a:spcPts val="120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process(self)</a:t>
            </a:r>
            <a:r>
              <a:rPr b="1" lang="en" sz="1100">
                <a:solidFill>
                  <a:schemeClr val="dk1"/>
                </a:solidFill>
              </a:rPr>
              <a:t>:</a:t>
            </a:r>
            <a:r>
              <a:rPr lang="en" sz="1100">
                <a:solidFill>
                  <a:schemeClr val="dk1"/>
                </a:solidFill>
              </a:rPr>
              <a:t> Orchestrates the entire data processing pipeline from raw data to final scaled results.</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apply_transformations_by_X0(self, ...)</a:t>
            </a:r>
            <a:r>
              <a:rPr b="1" lang="en" sz="1100">
                <a:solidFill>
                  <a:schemeClr val="dk1"/>
                </a:solidFill>
              </a:rPr>
              <a:t>:</a:t>
            </a:r>
            <a:r>
              <a:rPr lang="en" sz="1100">
                <a:solidFill>
                  <a:schemeClr val="dk1"/>
                </a:solidFill>
              </a:rPr>
              <a:t> Manages the experiment by applying all transformations to data grouped by material.</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apply_single_transformation(self, ...)</a:t>
            </a:r>
            <a:r>
              <a:rPr b="1" lang="en" sz="1100">
                <a:solidFill>
                  <a:schemeClr val="dk1"/>
                </a:solidFill>
              </a:rPr>
              <a:t>:</a:t>
            </a:r>
            <a:r>
              <a:rPr lang="en" sz="1100">
                <a:solidFill>
                  <a:schemeClr val="dk1"/>
                </a:solidFill>
              </a:rPr>
              <a:t> Contains the specific implementation for each of the 8 scaling methods.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Utility &amp; Helper Functions</a:t>
            </a:r>
            <a:endParaRPr b="1" sz="1100">
              <a:solidFill>
                <a:schemeClr val="dk1"/>
              </a:solidFill>
            </a:endParaRPr>
          </a:p>
          <a:p>
            <a:pPr indent="-272256" lvl="0" marL="457200" rtl="0" algn="l">
              <a:spcBef>
                <a:spcPts val="120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make_mask(self)</a:t>
            </a:r>
            <a:r>
              <a:rPr b="1" lang="en" sz="1100">
                <a:solidFill>
                  <a:schemeClr val="dk1"/>
                </a:solidFill>
              </a:rPr>
              <a:t>:</a:t>
            </a:r>
            <a:r>
              <a:rPr lang="en" sz="1100">
                <a:solidFill>
                  <a:schemeClr val="dk1"/>
                </a:solidFill>
              </a:rPr>
              <a:t> Cleans the data by filtering out non-physical simulation steps.</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apply_log_transform(self, data)</a:t>
            </a:r>
            <a:r>
              <a:rPr b="1" lang="en" sz="1100">
                <a:solidFill>
                  <a:schemeClr val="dk1"/>
                </a:solidFill>
              </a:rPr>
              <a:t>:</a:t>
            </a:r>
            <a:r>
              <a:rPr lang="en" sz="1100">
                <a:solidFill>
                  <a:schemeClr val="dk1"/>
                </a:solidFill>
              </a:rPr>
              <a:t> A math utility to safely apply a natural log transformation to data.</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safe_awkward_to_numpy(self, awkward_array)</a:t>
            </a:r>
            <a:r>
              <a:rPr b="1" lang="en" sz="1100">
                <a:solidFill>
                  <a:schemeClr val="dk1"/>
                </a:solidFill>
              </a:rPr>
              <a:t>:</a:t>
            </a:r>
            <a:r>
              <a:rPr lang="en" sz="1100">
                <a:solidFill>
                  <a:schemeClr val="dk1"/>
                </a:solidFill>
              </a:rPr>
              <a:t> A data conversion utility to safely handle and convert jagged arrays to NumPy arrays.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Data Access</a:t>
            </a:r>
            <a:endParaRPr b="1" sz="1100">
              <a:solidFill>
                <a:schemeClr val="dk1"/>
              </a:solidFill>
            </a:endParaRPr>
          </a:p>
          <a:p>
            <a:pPr indent="-272256" lvl="0" marL="457200" rtl="0" algn="l">
              <a:spcBef>
                <a:spcPts val="120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get_transformed_data(self, ...)</a:t>
            </a:r>
            <a:r>
              <a:rPr b="1" lang="en" sz="1100">
                <a:solidFill>
                  <a:schemeClr val="dk1"/>
                </a:solidFill>
              </a:rPr>
              <a:t>:</a:t>
            </a:r>
            <a:r>
              <a:rPr lang="en" sz="1100">
                <a:solidFill>
                  <a:schemeClr val="dk1"/>
                </a:solidFill>
              </a:rPr>
              <a:t> A public "getter" method to easily retrieve specific slices of transformed data.</a:t>
            </a:r>
            <a:endParaRPr sz="1100">
              <a:solidFill>
                <a:schemeClr val="dk1"/>
              </a:solidFill>
            </a:endParaRPr>
          </a:p>
          <a:p>
            <a:pPr indent="-272256" lvl="0" marL="457200" rtl="0" algn="l">
              <a:spcBef>
                <a:spcPts val="0"/>
              </a:spcBef>
              <a:spcAft>
                <a:spcPts val="0"/>
              </a:spcAft>
              <a:buClr>
                <a:schemeClr val="dk1"/>
              </a:buClr>
              <a:buSzPct val="100000"/>
              <a:buChar char="●"/>
            </a:pPr>
            <a:r>
              <a:rPr b="1" lang="en" sz="1100">
                <a:solidFill>
                  <a:srgbClr val="188038"/>
                </a:solidFill>
                <a:latin typeface="Roboto Mono"/>
                <a:ea typeface="Roboto Mono"/>
                <a:cs typeface="Roboto Mono"/>
                <a:sym typeface="Roboto Mono"/>
              </a:rPr>
              <a:t>list_available_transformations(self)</a:t>
            </a:r>
            <a:r>
              <a:rPr b="1" lang="en" sz="1100">
                <a:solidFill>
                  <a:schemeClr val="dk1"/>
                </a:solidFill>
              </a:rPr>
              <a:t>:</a:t>
            </a:r>
            <a:r>
              <a:rPr lang="en" sz="1100">
                <a:solidFill>
                  <a:schemeClr val="dk1"/>
                </a:solidFill>
              </a:rPr>
              <a:t> A helper function that returns the list of all valid transformation names.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 Plot-Function</a:t>
            </a:r>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a:solidFill>
                  <a:schemeClr val="dk1"/>
                </a:solidFill>
              </a:rPr>
              <a:t>The </a:t>
            </a:r>
            <a:r>
              <a:rPr lang="en" sz="1100">
                <a:solidFill>
                  <a:srgbClr val="188038"/>
                </a:solidFill>
                <a:latin typeface="Roboto Mono"/>
                <a:ea typeface="Roboto Mono"/>
                <a:cs typeface="Roboto Mono"/>
                <a:sym typeface="Roboto Mono"/>
              </a:rPr>
              <a:t>plot_2d_correlations_by_transformation</a:t>
            </a:r>
            <a:r>
              <a:rPr lang="en" sz="1100">
                <a:solidFill>
                  <a:schemeClr val="dk1"/>
                </a:solidFill>
              </a:rPr>
              <a:t> function acts as an automated report generator for visually inspecting data correlations. It systematically creates a series of figures: one for the original, unscaled data, and then an additional figure for each data transformation method that was tested (e.g., </a:t>
            </a:r>
            <a:r>
              <a:rPr lang="en" sz="1100">
                <a:solidFill>
                  <a:srgbClr val="188038"/>
                </a:solidFill>
                <a:latin typeface="Roboto Mono"/>
                <a:ea typeface="Roboto Mono"/>
                <a:cs typeface="Roboto Mono"/>
                <a:sym typeface="Roboto Mono"/>
              </a:rPr>
              <a:t>LogMinMax</a:t>
            </a:r>
            <a:r>
              <a:rPr lang="en" sz="1100">
                <a:solidFill>
                  <a:schemeClr val="dk1"/>
                </a:solidFill>
              </a:rPr>
              <a:t>, </a:t>
            </a:r>
            <a:r>
              <a:rPr lang="en" sz="1100">
                <a:solidFill>
                  <a:srgbClr val="188038"/>
                </a:solidFill>
                <a:latin typeface="Roboto Mono"/>
                <a:ea typeface="Roboto Mono"/>
                <a:cs typeface="Roboto Mono"/>
                <a:sym typeface="Roboto Mono"/>
              </a:rPr>
              <a:t>Tanh</a:t>
            </a:r>
            <a:r>
              <a:rPr lang="en" sz="1100">
                <a:solidFill>
                  <a:schemeClr val="dk1"/>
                </a:solidFill>
              </a:rPr>
              <a:t>). Each figure contains a grid of 2D histograms, or "heatmaps," where the rows represent different materials (like Lead or Air) and the columns show the relationships between pairs of key physical variables, such as momentum versus scattering angle. The primary goal of this function is to allow a direct, side-by-side comparison to verify that a chosen scaling method does not destroy the essential physical correlations present in the original data, which is a critical step before training the GAN. </a:t>
            </a:r>
            <a:br>
              <a:rPr lang="en" sz="1100">
                <a:solidFill>
                  <a:schemeClr val="dk1"/>
                </a:solidFill>
              </a:rPr>
            </a:br>
            <a:endParaRPr sz="1100">
              <a:solidFill>
                <a:schemeClr val="dk1"/>
              </a:solidFill>
            </a:endParaRPr>
          </a:p>
          <a:p>
            <a:pPr indent="-298450" lvl="0" marL="457200" rtl="0" algn="l">
              <a:spcBef>
                <a:spcPts val="0"/>
              </a:spcBef>
              <a:spcAft>
                <a:spcPts val="0"/>
              </a:spcAft>
              <a:buSzPts val="1100"/>
              <a:buChar char="●"/>
            </a:pPr>
            <a:r>
              <a:rPr lang="en" sz="1100">
                <a:solidFill>
                  <a:schemeClr val="dk1"/>
                </a:solidFill>
              </a:rPr>
              <a:t>The </a:t>
            </a:r>
            <a:r>
              <a:rPr lang="en" sz="1100">
                <a:solidFill>
                  <a:srgbClr val="188038"/>
                </a:solidFill>
                <a:latin typeface="Roboto Mono"/>
                <a:ea typeface="Roboto Mono"/>
                <a:cs typeface="Roboto Mono"/>
                <a:sym typeface="Roboto Mono"/>
              </a:rPr>
              <a:t>plot_distributions</a:t>
            </a:r>
            <a:r>
              <a:rPr lang="en" sz="1100">
                <a:solidFill>
                  <a:schemeClr val="dk1"/>
                </a:solidFill>
              </a:rPr>
              <a:t> function, in contrast, provides a detailed comparison of how different scaling methods affect the distribution of each individual physics variable. It generates two distinct figures to achieve this. The first, smaller figure displays the 1D histograms of the original, unscaled data on a logarithmic scale, serving as the ground-truth baseline. The second, larger figure shows the distributions of the preprocessed data. Crucially, on each subplot, it overlays the results from all tested scaling methods in different colors. This allows for a direct visual assessment of how each transformation reshapes the data, helping to identify which methods best preserve the overall structure or make the distribution more suitable for a neural network.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3">
            <a:alphaModFix/>
          </a:blip>
          <a:stretch>
            <a:fillRect/>
          </a:stretch>
        </p:blipFill>
        <p:spPr>
          <a:xfrm>
            <a:off x="131075" y="1112075"/>
            <a:ext cx="4249500" cy="3667751"/>
          </a:xfrm>
          <a:prstGeom prst="rect">
            <a:avLst/>
          </a:prstGeom>
          <a:noFill/>
          <a:ln>
            <a:noFill/>
          </a:ln>
        </p:spPr>
      </p:pic>
      <p:pic>
        <p:nvPicPr>
          <p:cNvPr id="118" name="Google Shape;118;p22"/>
          <p:cNvPicPr preferRelativeResize="0"/>
          <p:nvPr/>
        </p:nvPicPr>
        <p:blipFill>
          <a:blip r:embed="rId4">
            <a:alphaModFix/>
          </a:blip>
          <a:stretch>
            <a:fillRect/>
          </a:stretch>
        </p:blipFill>
        <p:spPr>
          <a:xfrm>
            <a:off x="4816425" y="138175"/>
            <a:ext cx="3069149" cy="1763300"/>
          </a:xfrm>
          <a:prstGeom prst="rect">
            <a:avLst/>
          </a:prstGeom>
          <a:noFill/>
          <a:ln>
            <a:noFill/>
          </a:ln>
        </p:spPr>
      </p:pic>
      <p:pic>
        <p:nvPicPr>
          <p:cNvPr id="119" name="Google Shape;119;p22"/>
          <p:cNvPicPr preferRelativeResize="0"/>
          <p:nvPr/>
        </p:nvPicPr>
        <p:blipFill>
          <a:blip r:embed="rId5">
            <a:alphaModFix/>
          </a:blip>
          <a:stretch>
            <a:fillRect/>
          </a:stretch>
        </p:blipFill>
        <p:spPr>
          <a:xfrm>
            <a:off x="4380575" y="1995888"/>
            <a:ext cx="4249501" cy="2783925"/>
          </a:xfrm>
          <a:prstGeom prst="rect">
            <a:avLst/>
          </a:prstGeom>
          <a:noFill/>
          <a:ln>
            <a:noFill/>
          </a:ln>
        </p:spPr>
      </p:pic>
      <p:sp>
        <p:nvSpPr>
          <p:cNvPr id="120" name="Google Shape;120;p22"/>
          <p:cNvSpPr txBox="1"/>
          <p:nvPr/>
        </p:nvSpPr>
        <p:spPr>
          <a:xfrm>
            <a:off x="4490075" y="4779825"/>
            <a:ext cx="4514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Log min max &amp; log standard min max </a:t>
            </a:r>
            <a:endParaRPr sz="1800">
              <a:solidFill>
                <a:schemeClr val="dk2"/>
              </a:solidFill>
            </a:endParaRPr>
          </a:p>
        </p:txBody>
      </p:sp>
      <p:sp>
        <p:nvSpPr>
          <p:cNvPr id="121" name="Google Shape;121;p22"/>
          <p:cNvSpPr txBox="1"/>
          <p:nvPr/>
        </p:nvSpPr>
        <p:spPr>
          <a:xfrm>
            <a:off x="935825" y="393950"/>
            <a:ext cx="2531100" cy="5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1D Distribution Plot</a:t>
            </a:r>
            <a:endParaRPr sz="1800">
              <a:solidFill>
                <a:schemeClr val="dk2"/>
              </a:solidFill>
            </a:endParaRPr>
          </a:p>
        </p:txBody>
      </p:sp>
      <p:sp>
        <p:nvSpPr>
          <p:cNvPr id="122" name="Google Shape;122;p22"/>
          <p:cNvSpPr txBox="1"/>
          <p:nvPr/>
        </p:nvSpPr>
        <p:spPr>
          <a:xfrm>
            <a:off x="618350" y="4662550"/>
            <a:ext cx="2787000" cy="42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Original</a:t>
            </a:r>
            <a:r>
              <a:rPr lang="en" sz="1800">
                <a:solidFill>
                  <a:schemeClr val="dk2"/>
                </a:solidFill>
              </a:rPr>
              <a:t> Distribution</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3"/>
          <p:cNvPicPr preferRelativeResize="0"/>
          <p:nvPr/>
        </p:nvPicPr>
        <p:blipFill>
          <a:blip r:embed="rId3">
            <a:alphaModFix/>
          </a:blip>
          <a:stretch>
            <a:fillRect/>
          </a:stretch>
        </p:blipFill>
        <p:spPr>
          <a:xfrm>
            <a:off x="152400" y="152400"/>
            <a:ext cx="2750174" cy="1740850"/>
          </a:xfrm>
          <a:prstGeom prst="rect">
            <a:avLst/>
          </a:prstGeom>
          <a:noFill/>
          <a:ln>
            <a:noFill/>
          </a:ln>
        </p:spPr>
      </p:pic>
      <p:pic>
        <p:nvPicPr>
          <p:cNvPr descr="Log Min Max" id="128" name="Google Shape;128;p23"/>
          <p:cNvPicPr preferRelativeResize="0"/>
          <p:nvPr/>
        </p:nvPicPr>
        <p:blipFill>
          <a:blip r:embed="rId4">
            <a:alphaModFix/>
          </a:blip>
          <a:stretch>
            <a:fillRect/>
          </a:stretch>
        </p:blipFill>
        <p:spPr>
          <a:xfrm>
            <a:off x="47125" y="2220388"/>
            <a:ext cx="3816751" cy="2779750"/>
          </a:xfrm>
          <a:prstGeom prst="rect">
            <a:avLst/>
          </a:prstGeom>
          <a:noFill/>
          <a:ln>
            <a:noFill/>
          </a:ln>
        </p:spPr>
      </p:pic>
      <p:sp>
        <p:nvSpPr>
          <p:cNvPr id="129" name="Google Shape;129;p23"/>
          <p:cNvSpPr txBox="1"/>
          <p:nvPr/>
        </p:nvSpPr>
        <p:spPr>
          <a:xfrm>
            <a:off x="3494188" y="923100"/>
            <a:ext cx="2275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Original</a:t>
            </a:r>
            <a:r>
              <a:rPr lang="en" sz="1300">
                <a:solidFill>
                  <a:schemeClr val="dk2"/>
                </a:solidFill>
              </a:rPr>
              <a:t> 2d plot</a:t>
            </a:r>
            <a:endParaRPr sz="1300">
              <a:solidFill>
                <a:schemeClr val="dk2"/>
              </a:solidFill>
            </a:endParaRPr>
          </a:p>
        </p:txBody>
      </p:sp>
      <p:pic>
        <p:nvPicPr>
          <p:cNvPr id="130" name="Google Shape;130;p23"/>
          <p:cNvPicPr preferRelativeResize="0"/>
          <p:nvPr/>
        </p:nvPicPr>
        <p:blipFill>
          <a:blip r:embed="rId5">
            <a:alphaModFix/>
          </a:blip>
          <a:stretch>
            <a:fillRect/>
          </a:stretch>
        </p:blipFill>
        <p:spPr>
          <a:xfrm>
            <a:off x="5865925" y="2194738"/>
            <a:ext cx="3201426" cy="2831025"/>
          </a:xfrm>
          <a:prstGeom prst="rect">
            <a:avLst/>
          </a:prstGeom>
          <a:noFill/>
          <a:ln>
            <a:noFill/>
          </a:ln>
        </p:spPr>
      </p:pic>
      <p:pic>
        <p:nvPicPr>
          <p:cNvPr descr="an arrow just on blank page the ones we draw on a paint app" id="131" name="Google Shape;131;p23"/>
          <p:cNvPicPr preferRelativeResize="0"/>
          <p:nvPr/>
        </p:nvPicPr>
        <p:blipFill>
          <a:blip r:embed="rId6">
            <a:alphaModFix/>
          </a:blip>
          <a:stretch>
            <a:fillRect/>
          </a:stretch>
        </p:blipFill>
        <p:spPr>
          <a:xfrm rot="-8416172">
            <a:off x="2902575" y="923090"/>
            <a:ext cx="706340" cy="384900"/>
          </a:xfrm>
          <a:prstGeom prst="rect">
            <a:avLst/>
          </a:prstGeom>
          <a:noFill/>
          <a:ln>
            <a:noFill/>
          </a:ln>
        </p:spPr>
      </p:pic>
      <p:sp>
        <p:nvSpPr>
          <p:cNvPr id="132" name="Google Shape;132;p23"/>
          <p:cNvSpPr txBox="1"/>
          <p:nvPr/>
        </p:nvSpPr>
        <p:spPr>
          <a:xfrm>
            <a:off x="2620250" y="1834913"/>
            <a:ext cx="227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Log Min Max &amp; Log standard Min Max</a:t>
            </a:r>
            <a:endParaRPr sz="1100">
              <a:solidFill>
                <a:schemeClr val="dk2"/>
              </a:solidFill>
            </a:endParaRPr>
          </a:p>
        </p:txBody>
      </p:sp>
      <p:pic>
        <p:nvPicPr>
          <p:cNvPr descr="an arrow just on blank page the ones we draw on a paint app" id="133" name="Google Shape;133;p23"/>
          <p:cNvPicPr preferRelativeResize="0"/>
          <p:nvPr/>
        </p:nvPicPr>
        <p:blipFill>
          <a:blip r:embed="rId6">
            <a:alphaModFix/>
          </a:blip>
          <a:stretch>
            <a:fillRect/>
          </a:stretch>
        </p:blipFill>
        <p:spPr>
          <a:xfrm rot="-10396543">
            <a:off x="1908150" y="1972740"/>
            <a:ext cx="454285" cy="247550"/>
          </a:xfrm>
          <a:prstGeom prst="rect">
            <a:avLst/>
          </a:prstGeom>
          <a:noFill/>
          <a:ln>
            <a:noFill/>
          </a:ln>
        </p:spPr>
      </p:pic>
      <p:sp>
        <p:nvSpPr>
          <p:cNvPr id="134" name="Google Shape;134;p23"/>
          <p:cNvSpPr txBox="1"/>
          <p:nvPr/>
        </p:nvSpPr>
        <p:spPr>
          <a:xfrm>
            <a:off x="4931050" y="1708025"/>
            <a:ext cx="1499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Log Sigmoid</a:t>
            </a:r>
            <a:endParaRPr sz="1300">
              <a:solidFill>
                <a:schemeClr val="dk2"/>
              </a:solidFill>
            </a:endParaRPr>
          </a:p>
        </p:txBody>
      </p:sp>
      <p:pic>
        <p:nvPicPr>
          <p:cNvPr descr="an arrow just on blank page the ones we draw on a paint app" id="135" name="Google Shape;135;p23"/>
          <p:cNvPicPr preferRelativeResize="0"/>
          <p:nvPr/>
        </p:nvPicPr>
        <p:blipFill>
          <a:blip r:embed="rId6">
            <a:alphaModFix/>
          </a:blip>
          <a:stretch>
            <a:fillRect/>
          </a:stretch>
        </p:blipFill>
        <p:spPr>
          <a:xfrm rot="3204302">
            <a:off x="6274566" y="1826358"/>
            <a:ext cx="499416" cy="406858"/>
          </a:xfrm>
          <a:prstGeom prst="rect">
            <a:avLst/>
          </a:prstGeom>
          <a:noFill/>
          <a:ln>
            <a:noFill/>
          </a:ln>
        </p:spPr>
      </p:pic>
      <p:sp>
        <p:nvSpPr>
          <p:cNvPr id="136" name="Google Shape;136;p23"/>
          <p:cNvSpPr txBox="1"/>
          <p:nvPr/>
        </p:nvSpPr>
        <p:spPr>
          <a:xfrm>
            <a:off x="5230900" y="499775"/>
            <a:ext cx="33603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2 D Correlation Plot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800"/>
              </a:spcBef>
              <a:spcAft>
                <a:spcPts val="0"/>
              </a:spcAft>
              <a:buClr>
                <a:schemeClr val="dk1"/>
              </a:buClr>
              <a:buSzPct val="54098"/>
              <a:buFont typeface="Arial"/>
              <a:buNone/>
            </a:pPr>
            <a:r>
              <a:rPr b="1" lang="en" sz="2033">
                <a:latin typeface="Roboto"/>
                <a:ea typeface="Roboto"/>
                <a:cs typeface="Roboto"/>
                <a:sym typeface="Roboto"/>
              </a:rPr>
              <a:t>Optimal Discriminator Configuration with Optuna</a:t>
            </a:r>
            <a:endParaRPr b="1" sz="2033">
              <a:latin typeface="Roboto"/>
              <a:ea typeface="Roboto"/>
              <a:cs typeface="Roboto"/>
              <a:sym typeface="Roboto"/>
            </a:endParaRPr>
          </a:p>
          <a:p>
            <a:pPr indent="0" lvl="0" marL="0" rtl="0" algn="l">
              <a:spcBef>
                <a:spcPts val="400"/>
              </a:spcBef>
              <a:spcAft>
                <a:spcPts val="0"/>
              </a:spcAft>
              <a:buNone/>
            </a:pPr>
            <a:r>
              <a:t/>
            </a:r>
            <a:endParaRPr/>
          </a:p>
        </p:txBody>
      </p:sp>
      <p:sp>
        <p:nvSpPr>
          <p:cNvPr id="142" name="Google Shape;14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600"/>
              </a:spcBef>
              <a:spcAft>
                <a:spcPts val="0"/>
              </a:spcAft>
              <a:buClr>
                <a:schemeClr val="dk1"/>
              </a:buClr>
              <a:buSzPts val="1100"/>
              <a:buFont typeface="Arial"/>
              <a:buNone/>
            </a:pPr>
            <a:r>
              <a:rPr b="1" lang="en" sz="1200">
                <a:solidFill>
                  <a:schemeClr val="dk1"/>
                </a:solidFill>
                <a:latin typeface="Roboto"/>
                <a:ea typeface="Roboto"/>
                <a:cs typeface="Roboto"/>
                <a:sym typeface="Roboto"/>
              </a:rPr>
              <a:t>. The Challenge: Achieving Adversarial Balance</a:t>
            </a:r>
            <a:endParaRPr b="1" sz="1200">
              <a:solidFill>
                <a:schemeClr val="dk1"/>
              </a:solidFill>
              <a:latin typeface="Roboto"/>
              <a:ea typeface="Roboto"/>
              <a:cs typeface="Roboto"/>
              <a:sym typeface="Roboto"/>
            </a:endParaRPr>
          </a:p>
          <a:p>
            <a:pPr indent="-304800" lvl="0" marL="457200" rtl="0" algn="l">
              <a:spcBef>
                <a:spcPts val="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GAN training requires a delicate balance between the Generator (G) and Discriminator (D).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Weak Discriminator: Provides poor gradients, leading to slow or no improvement in the Generator.</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Strong Discriminator: Overpowers the Generator, causing gradients to vanish and training to stop.</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Complex Hyperparameter Space: The ideal configuration depends on interdependent factors like network depth, learning rate, and optimizer settings, making manual tuning ineffective</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b="1" lang="en" sz="1200">
                <a:solidFill>
                  <a:schemeClr val="dk1"/>
                </a:solidFill>
                <a:latin typeface="Roboto"/>
                <a:ea typeface="Roboto"/>
                <a:cs typeface="Roboto"/>
                <a:sym typeface="Roboto"/>
              </a:rPr>
              <a:t>2. The Solution: Automated Hyperparameter Optimization:</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Optuna Framework</a:t>
            </a:r>
            <a:r>
              <a:rPr lang="en" sz="1200">
                <a:solidFill>
                  <a:schemeClr val="dk1"/>
                </a:solidFill>
                <a:latin typeface="Roboto"/>
                <a:ea typeface="Roboto"/>
                <a:cs typeface="Roboto"/>
                <a:sym typeface="Roboto"/>
              </a:rPr>
              <a:t>: Used to automate the search for optimal discriminator parameters.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TPE Algorithm: Employs a Bayesian optimization strategy (Tree-structured Parzen Estimator) to intelligently explore the hyperparameter space.</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Models "good" (ℓ(x)) and "bad" (g(x)) configurations based on past trials.</a:t>
            </a:r>
            <a:endParaRPr sz="1200">
              <a:solidFill>
                <a:schemeClr val="dk1"/>
              </a:solidFill>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Focuses the search on promising regions by maximizing the ratio ℓ(x)/g(x).</a:t>
            </a:r>
            <a:endParaRPr sz="1200">
              <a:solidFill>
                <a:schemeClr val="dk1"/>
              </a:solidFill>
              <a:latin typeface="Roboto"/>
              <a:ea typeface="Roboto"/>
              <a:cs typeface="Roboto"/>
              <a:sym typeface="Roboto"/>
            </a:endParaRPr>
          </a:p>
          <a:p>
            <a:pPr indent="0" lvl="0" marL="0" rtl="0" algn="l">
              <a:spcBef>
                <a:spcPts val="900"/>
              </a:spcBef>
              <a:spcAft>
                <a:spcPts val="0"/>
              </a:spcAft>
              <a:buNone/>
            </a:pPr>
            <a:r>
              <a:t/>
            </a:r>
            <a:endParaRPr b="1" sz="1200">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91075" y="301675"/>
            <a:ext cx="8520600" cy="850800"/>
          </a:xfrm>
          <a:prstGeom prst="rect">
            <a:avLst/>
          </a:prstGeom>
        </p:spPr>
        <p:txBody>
          <a:bodyPr anchorCtr="0" anchor="t" bIns="91425" lIns="91425" spcFirstLastPara="1" rIns="91425" wrap="square" tIns="91425">
            <a:spAutoFit/>
          </a:bodyPr>
          <a:lstStyle/>
          <a:p>
            <a:pPr indent="0" lvl="0" marL="0" rtl="0" algn="ctr">
              <a:lnSpc>
                <a:spcPct val="115000"/>
              </a:lnSpc>
              <a:spcBef>
                <a:spcPts val="600"/>
              </a:spcBef>
              <a:spcAft>
                <a:spcPts val="0"/>
              </a:spcAft>
              <a:buSzPts val="990"/>
              <a:buNone/>
            </a:pPr>
            <a:r>
              <a:t/>
            </a:r>
            <a:endParaRPr b="1" sz="1779">
              <a:latin typeface="Roboto"/>
              <a:ea typeface="Roboto"/>
              <a:cs typeface="Roboto"/>
              <a:sym typeface="Roboto"/>
            </a:endParaRPr>
          </a:p>
          <a:p>
            <a:pPr indent="0" lvl="0" marL="0" rtl="0" algn="ctr">
              <a:lnSpc>
                <a:spcPct val="115000"/>
              </a:lnSpc>
              <a:spcBef>
                <a:spcPts val="600"/>
              </a:spcBef>
              <a:spcAft>
                <a:spcPts val="600"/>
              </a:spcAft>
              <a:buSzPts val="990"/>
              <a:buNone/>
            </a:pPr>
            <a:r>
              <a:rPr b="1" lang="en" sz="1779">
                <a:latin typeface="Roboto"/>
                <a:ea typeface="Roboto"/>
                <a:cs typeface="Roboto"/>
                <a:sym typeface="Roboto"/>
              </a:rPr>
              <a:t> Search Strategy and Implementation</a:t>
            </a:r>
            <a:endParaRPr b="1" sz="1779">
              <a:latin typeface="Roboto"/>
              <a:ea typeface="Roboto"/>
              <a:cs typeface="Roboto"/>
              <a:sym typeface="Roboto"/>
            </a:endParaRPr>
          </a:p>
        </p:txBody>
      </p:sp>
      <p:sp>
        <p:nvSpPr>
          <p:cNvPr id="148" name="Google Shape;14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800"/>
              </a:spcBef>
              <a:spcAft>
                <a:spcPts val="0"/>
              </a:spcAft>
              <a:buNone/>
            </a:pPr>
            <a:r>
              <a:rPr b="1" lang="en" sz="1700">
                <a:solidFill>
                  <a:schemeClr val="dk1"/>
                </a:solidFill>
                <a:latin typeface="Roboto"/>
                <a:ea typeface="Roboto"/>
                <a:cs typeface="Roboto"/>
                <a:sym typeface="Roboto"/>
              </a:rPr>
              <a:t>search Space: Definitions of Key Hyperparameters</a:t>
            </a:r>
            <a:endParaRPr b="1" sz="1700">
              <a:solidFill>
                <a:schemeClr val="dk1"/>
              </a:solidFill>
              <a:latin typeface="Roboto"/>
              <a:ea typeface="Roboto"/>
              <a:cs typeface="Roboto"/>
              <a:sym typeface="Roboto"/>
            </a:endParaRPr>
          </a:p>
          <a:p>
            <a:pPr indent="-293370" lvl="0" marL="457200" rtl="0" algn="l">
              <a:spcBef>
                <a:spcPts val="40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Learning Rate:</a:t>
            </a:r>
            <a:endParaRPr b="1"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Definition: Controls the step size the optimizer takes during each update. A well-tuned learning rate is crucial for balancing the training speed and stability of both the generator and discriminator.</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Adam β1</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Definition: The exponential decay rate for the first moment estimates in the Adam optimizer. It governs the "momentum" of the gradients, determining how much weight is given to past gradient information versus the current gradient.</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Network Depth:</a:t>
            </a:r>
            <a:endParaRPr b="1"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Definition: The number of hidden layers in the discriminator's neural network. Deeper networks can learn more complex features but are also more prone to instability and vanishing gradients.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Neurons per Layer:</a:t>
            </a:r>
            <a:endParaRPr b="1"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Definition: The number of neurons in each hidden layer. This determines the model's capacity—its ability to represent and learn complex patterns from the dat.</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Objective: </a:t>
            </a:r>
            <a:r>
              <a:rPr lang="en" sz="1200">
                <a:solidFill>
                  <a:schemeClr val="dk1"/>
                </a:solidFill>
                <a:latin typeface="Roboto"/>
                <a:ea typeface="Roboto"/>
                <a:cs typeface="Roboto"/>
                <a:sym typeface="Roboto"/>
              </a:rPr>
              <a:t>Minimize discriminator validation loss (Binary Cross-Entropy) over a fixed number of epochs.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Efficient Pruning:</a:t>
            </a:r>
            <a:endParaRPr b="1"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Threshold Pruning: Terminated trials if loss dropped below 0.1 (to prevent an overly dominant discriminator).</a:t>
            </a:r>
            <a:endParaRPr sz="1200">
              <a:solidFill>
                <a:schemeClr val="dk1"/>
              </a:solidFill>
              <a:latin typeface="Roboto"/>
              <a:ea typeface="Roboto"/>
              <a:cs typeface="Roboto"/>
              <a:sym typeface="Roboto"/>
            </a:endParaRPr>
          </a:p>
          <a:p>
            <a:pPr indent="-293369" lvl="1" marL="9144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Median Pruner: Stopped trials performing worse than the median of their peers.</a:t>
            </a:r>
            <a:endParaRPr sz="1200">
              <a:solidFill>
                <a:schemeClr val="dk1"/>
              </a:solidFill>
              <a:latin typeface="Roboto"/>
              <a:ea typeface="Roboto"/>
              <a:cs typeface="Roboto"/>
              <a:sym typeface="Roboto"/>
            </a:endParaRPr>
          </a:p>
          <a:p>
            <a:pPr indent="0" lvl="0" marL="457200" rtl="0" algn="l">
              <a:spcBef>
                <a:spcPts val="90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from Optuna</a:t>
            </a:r>
            <a:endParaRPr/>
          </a:p>
        </p:txBody>
      </p:sp>
      <p:sp>
        <p:nvSpPr>
          <p:cNvPr id="154" name="Google Shape;154;p26"/>
          <p:cNvSpPr txBox="1"/>
          <p:nvPr/>
        </p:nvSpPr>
        <p:spPr>
          <a:xfrm>
            <a:off x="512500" y="1421900"/>
            <a:ext cx="2151900" cy="30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Best Hyperparameters:</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lr: 3e-05</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beta1: 0.5682096494749166</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d_layers: 2</a:t>
            </a:r>
            <a:endParaRPr b="1" sz="1000">
              <a:solidFill>
                <a:schemeClr val="dk1"/>
              </a:solidFill>
              <a:highlight>
                <a:srgbClr val="FFFFFF"/>
              </a:highlight>
              <a:latin typeface="Courier New"/>
              <a:ea typeface="Courier New"/>
              <a:cs typeface="Courier New"/>
              <a:sym typeface="Courier New"/>
            </a:endParaRPr>
          </a:p>
          <a:p>
            <a:pPr indent="0" lvl="0" marL="0" rtl="0" algn="l">
              <a:lnSpc>
                <a:spcPct val="130770"/>
              </a:lnSpc>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d_neurons: 128</a:t>
            </a:r>
            <a:endParaRPr b="1"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800">
              <a:solidFill>
                <a:schemeClr val="dk2"/>
              </a:solidFill>
            </a:endParaRPr>
          </a:p>
        </p:txBody>
      </p:sp>
      <p:sp>
        <p:nvSpPr>
          <p:cNvPr id="155" name="Google Shape;155;p26"/>
          <p:cNvSpPr txBox="1"/>
          <p:nvPr/>
        </p:nvSpPr>
        <p:spPr>
          <a:xfrm>
            <a:off x="2816800" y="1119613"/>
            <a:ext cx="2019600" cy="4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Pb Data</a:t>
            </a:r>
            <a:endParaRPr sz="1800">
              <a:solidFill>
                <a:schemeClr val="dk2"/>
              </a:solidFill>
            </a:endParaRPr>
          </a:p>
        </p:txBody>
      </p:sp>
      <p:pic>
        <p:nvPicPr>
          <p:cNvPr descr="an arrow just on blank page the ones we draw on a paint app" id="156" name="Google Shape;156;p26"/>
          <p:cNvPicPr preferRelativeResize="0"/>
          <p:nvPr/>
        </p:nvPicPr>
        <p:blipFill>
          <a:blip r:embed="rId3">
            <a:alphaModFix/>
          </a:blip>
          <a:stretch>
            <a:fillRect/>
          </a:stretch>
        </p:blipFill>
        <p:spPr>
          <a:xfrm rot="10800000">
            <a:off x="2816800" y="1741950"/>
            <a:ext cx="679914" cy="370500"/>
          </a:xfrm>
          <a:prstGeom prst="rect">
            <a:avLst/>
          </a:prstGeom>
          <a:noFill/>
          <a:ln>
            <a:noFill/>
          </a:ln>
        </p:spPr>
      </p:pic>
      <p:sp>
        <p:nvSpPr>
          <p:cNvPr id="157" name="Google Shape;157;p26"/>
          <p:cNvSpPr txBox="1"/>
          <p:nvPr/>
        </p:nvSpPr>
        <p:spPr>
          <a:xfrm>
            <a:off x="5892375" y="1898150"/>
            <a:ext cx="2681100" cy="254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baseline="30000" lang="en" sz="1800">
                <a:solidFill>
                  <a:schemeClr val="dk2"/>
                </a:solidFill>
              </a:rPr>
              <a:t>best_lr = 3e-05</a:t>
            </a:r>
            <a:endParaRPr b="1" baseline="30000" sz="1800">
              <a:solidFill>
                <a:schemeClr val="dk2"/>
              </a:solidFill>
            </a:endParaRPr>
          </a:p>
          <a:p>
            <a:pPr indent="0" lvl="0" marL="0" rtl="0" algn="l">
              <a:spcBef>
                <a:spcPts val="0"/>
              </a:spcBef>
              <a:spcAft>
                <a:spcPts val="0"/>
              </a:spcAft>
              <a:buClr>
                <a:schemeClr val="dk1"/>
              </a:buClr>
              <a:buSzPts val="1100"/>
              <a:buFont typeface="Arial"/>
              <a:buNone/>
            </a:pPr>
            <a:r>
              <a:rPr b="1" baseline="30000" lang="en" sz="1800">
                <a:solidFill>
                  <a:schemeClr val="dk2"/>
                </a:solidFill>
              </a:rPr>
              <a:t>best_beta1 = 0.5758339373578758</a:t>
            </a:r>
            <a:endParaRPr b="1" baseline="30000" sz="1800">
              <a:solidFill>
                <a:schemeClr val="dk2"/>
              </a:solidFill>
            </a:endParaRPr>
          </a:p>
          <a:p>
            <a:pPr indent="0" lvl="0" marL="0" rtl="0" algn="l">
              <a:spcBef>
                <a:spcPts val="0"/>
              </a:spcBef>
              <a:spcAft>
                <a:spcPts val="0"/>
              </a:spcAft>
              <a:buClr>
                <a:schemeClr val="dk1"/>
              </a:buClr>
              <a:buSzPts val="1100"/>
              <a:buFont typeface="Arial"/>
              <a:buNone/>
            </a:pPr>
            <a:r>
              <a:rPr b="1" baseline="30000" lang="en" sz="1800">
                <a:solidFill>
                  <a:schemeClr val="dk2"/>
                </a:solidFill>
              </a:rPr>
              <a:t>best_d_layers = 6</a:t>
            </a:r>
            <a:endParaRPr b="1" baseline="30000" sz="1800">
              <a:solidFill>
                <a:schemeClr val="dk2"/>
              </a:solidFill>
            </a:endParaRPr>
          </a:p>
          <a:p>
            <a:pPr indent="0" lvl="0" marL="0" rtl="0" algn="l">
              <a:spcBef>
                <a:spcPts val="0"/>
              </a:spcBef>
              <a:spcAft>
                <a:spcPts val="0"/>
              </a:spcAft>
              <a:buClr>
                <a:schemeClr val="dk1"/>
              </a:buClr>
              <a:buSzPts val="1100"/>
              <a:buFont typeface="Arial"/>
              <a:buNone/>
            </a:pPr>
            <a:r>
              <a:rPr b="1" baseline="30000" lang="en" sz="1800">
                <a:solidFill>
                  <a:schemeClr val="dk2"/>
                </a:solidFill>
              </a:rPr>
              <a:t>best_d_neurons = 512</a:t>
            </a:r>
            <a:endParaRPr b="1" baseline="30000"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descr="an arrow just on blank page the ones we draw on a paint app" id="158" name="Google Shape;158;p26"/>
          <p:cNvPicPr preferRelativeResize="0"/>
          <p:nvPr/>
        </p:nvPicPr>
        <p:blipFill>
          <a:blip r:embed="rId3">
            <a:alphaModFix/>
          </a:blip>
          <a:stretch>
            <a:fillRect/>
          </a:stretch>
        </p:blipFill>
        <p:spPr>
          <a:xfrm rot="3943759">
            <a:off x="5813726" y="1465990"/>
            <a:ext cx="679924" cy="370506"/>
          </a:xfrm>
          <a:prstGeom prst="rect">
            <a:avLst/>
          </a:prstGeom>
          <a:noFill/>
          <a:ln>
            <a:noFill/>
          </a:ln>
        </p:spPr>
      </p:pic>
      <p:sp>
        <p:nvSpPr>
          <p:cNvPr id="159" name="Google Shape;159;p26"/>
          <p:cNvSpPr txBox="1"/>
          <p:nvPr/>
        </p:nvSpPr>
        <p:spPr>
          <a:xfrm>
            <a:off x="5222100" y="883900"/>
            <a:ext cx="2945700" cy="3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'Pb', 'AIR', 'Water', 'SILICON_DIOXIDE' Data</a:t>
            </a:r>
            <a:endParaRPr sz="1000">
              <a:solidFill>
                <a:schemeClr val="dk2"/>
              </a:solidFill>
            </a:endParaRPr>
          </a:p>
        </p:txBody>
      </p:sp>
      <p:sp>
        <p:nvSpPr>
          <p:cNvPr id="160" name="Google Shape;160;p26"/>
          <p:cNvSpPr txBox="1"/>
          <p:nvPr/>
        </p:nvSpPr>
        <p:spPr>
          <a:xfrm>
            <a:off x="-35825" y="3666050"/>
            <a:ext cx="6385200" cy="12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Key Insight on β1</a:t>
            </a:r>
            <a:r>
              <a:rPr lang="en" sz="1200">
                <a:solidFill>
                  <a:schemeClr val="dk1"/>
                </a:solidFill>
                <a:latin typeface="Roboto"/>
                <a:ea typeface="Roboto"/>
                <a:cs typeface="Roboto"/>
                <a:sym typeface="Roboto"/>
              </a:rPr>
              <a:t>: The Adam optimizer's β1 parameter was found to be the most critical hyperparameter. It controls the momentum of the gradients, determining how much information from past updates is retained, which is crucial for stabilizing the adversarial dynamic. A lower Beta 1 Parameter worked the best  compared to </a:t>
            </a:r>
            <a:endParaRPr sz="1800">
              <a:solidFill>
                <a:schemeClr val="dk2"/>
              </a:solidFill>
            </a:endParaRPr>
          </a:p>
        </p:txBody>
      </p:sp>
      <p:sp>
        <p:nvSpPr>
          <p:cNvPr id="161" name="Google Shape;161;p26"/>
          <p:cNvSpPr txBox="1"/>
          <p:nvPr/>
        </p:nvSpPr>
        <p:spPr>
          <a:xfrm>
            <a:off x="6456825" y="3591475"/>
            <a:ext cx="2469300" cy="7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Generator also </a:t>
            </a:r>
            <a:r>
              <a:rPr b="1" lang="en" sz="1800">
                <a:solidFill>
                  <a:schemeClr val="dk1"/>
                </a:solidFill>
              </a:rPr>
              <a:t>uses</a:t>
            </a:r>
            <a:r>
              <a:rPr b="1" lang="en" sz="1800">
                <a:solidFill>
                  <a:schemeClr val="dk1"/>
                </a:solidFill>
              </a:rPr>
              <a:t> the same parameter</a:t>
            </a:r>
            <a:endParaRPr b="1"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of Vanila GAN on Pb Data</a:t>
            </a:r>
            <a:endParaRPr/>
          </a:p>
        </p:txBody>
      </p:sp>
      <p:pic>
        <p:nvPicPr>
          <p:cNvPr id="167" name="Google Shape;167;p27"/>
          <p:cNvPicPr preferRelativeResize="0"/>
          <p:nvPr/>
        </p:nvPicPr>
        <p:blipFill>
          <a:blip r:embed="rId3">
            <a:alphaModFix/>
          </a:blip>
          <a:stretch>
            <a:fillRect/>
          </a:stretch>
        </p:blipFill>
        <p:spPr>
          <a:xfrm>
            <a:off x="108325" y="1351325"/>
            <a:ext cx="2431676" cy="2981125"/>
          </a:xfrm>
          <a:prstGeom prst="rect">
            <a:avLst/>
          </a:prstGeom>
          <a:noFill/>
          <a:ln>
            <a:noFill/>
          </a:ln>
        </p:spPr>
      </p:pic>
      <p:pic>
        <p:nvPicPr>
          <p:cNvPr id="168" name="Google Shape;168;p27"/>
          <p:cNvPicPr preferRelativeResize="0"/>
          <p:nvPr/>
        </p:nvPicPr>
        <p:blipFill>
          <a:blip r:embed="rId4">
            <a:alphaModFix/>
          </a:blip>
          <a:stretch>
            <a:fillRect/>
          </a:stretch>
        </p:blipFill>
        <p:spPr>
          <a:xfrm>
            <a:off x="2790425" y="1395425"/>
            <a:ext cx="2511050" cy="2813551"/>
          </a:xfrm>
          <a:prstGeom prst="rect">
            <a:avLst/>
          </a:prstGeom>
          <a:noFill/>
          <a:ln>
            <a:noFill/>
          </a:ln>
        </p:spPr>
      </p:pic>
      <p:pic>
        <p:nvPicPr>
          <p:cNvPr id="169" name="Google Shape;169;p27"/>
          <p:cNvPicPr preferRelativeResize="0"/>
          <p:nvPr/>
        </p:nvPicPr>
        <p:blipFill>
          <a:blip r:embed="rId5">
            <a:alphaModFix/>
          </a:blip>
          <a:stretch>
            <a:fillRect/>
          </a:stretch>
        </p:blipFill>
        <p:spPr>
          <a:xfrm>
            <a:off x="5423950" y="1412839"/>
            <a:ext cx="3501323" cy="2734262"/>
          </a:xfrm>
          <a:prstGeom prst="rect">
            <a:avLst/>
          </a:prstGeom>
          <a:noFill/>
          <a:ln>
            <a:noFill/>
          </a:ln>
        </p:spPr>
      </p:pic>
      <p:sp>
        <p:nvSpPr>
          <p:cNvPr id="170" name="Google Shape;170;p27"/>
          <p:cNvSpPr txBox="1"/>
          <p:nvPr/>
        </p:nvSpPr>
        <p:spPr>
          <a:xfrm>
            <a:off x="108325" y="4332450"/>
            <a:ext cx="26016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1D Plot</a:t>
            </a:r>
            <a:endParaRPr sz="1800">
              <a:solidFill>
                <a:schemeClr val="dk2"/>
              </a:solidFill>
            </a:endParaRPr>
          </a:p>
        </p:txBody>
      </p:sp>
      <p:sp>
        <p:nvSpPr>
          <p:cNvPr id="171" name="Google Shape;171;p27"/>
          <p:cNvSpPr txBox="1"/>
          <p:nvPr/>
        </p:nvSpPr>
        <p:spPr>
          <a:xfrm>
            <a:off x="3105425" y="4332450"/>
            <a:ext cx="2001900" cy="4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Correlation plot with P</a:t>
            </a:r>
            <a:endParaRPr>
              <a:solidFill>
                <a:schemeClr val="dk2"/>
              </a:solidFill>
            </a:endParaRPr>
          </a:p>
        </p:txBody>
      </p:sp>
      <p:sp>
        <p:nvSpPr>
          <p:cNvPr id="172" name="Google Shape;172;p27"/>
          <p:cNvSpPr txBox="1"/>
          <p:nvPr/>
        </p:nvSpPr>
        <p:spPr>
          <a:xfrm>
            <a:off x="5724800" y="4372050"/>
            <a:ext cx="24906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2D sampling pair</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699750" y="162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Generator and </a:t>
            </a:r>
            <a:r>
              <a:rPr lang="en"/>
              <a:t>Discriminator</a:t>
            </a:r>
            <a:r>
              <a:rPr lang="en"/>
              <a:t> Loss</a:t>
            </a:r>
            <a:endParaRPr/>
          </a:p>
        </p:txBody>
      </p:sp>
      <p:pic>
        <p:nvPicPr>
          <p:cNvPr id="178" name="Google Shape;178;p28"/>
          <p:cNvPicPr preferRelativeResize="0"/>
          <p:nvPr/>
        </p:nvPicPr>
        <p:blipFill>
          <a:blip r:embed="rId3">
            <a:alphaModFix/>
          </a:blip>
          <a:stretch>
            <a:fillRect/>
          </a:stretch>
        </p:blipFill>
        <p:spPr>
          <a:xfrm>
            <a:off x="699750" y="735500"/>
            <a:ext cx="7893400" cy="38188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Stabilizing</a:t>
            </a:r>
            <a:r>
              <a:rPr lang="en"/>
              <a:t> techniques for GAN</a:t>
            </a:r>
            <a:endParaRPr/>
          </a:p>
        </p:txBody>
      </p:sp>
      <p:sp>
        <p:nvSpPr>
          <p:cNvPr id="184" name="Google Shape;184;p29"/>
          <p:cNvSpPr txBox="1"/>
          <p:nvPr>
            <p:ph idx="1" type="body"/>
          </p:nvPr>
        </p:nvSpPr>
        <p:spPr>
          <a:xfrm>
            <a:off x="311700" y="1152475"/>
            <a:ext cx="61440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sz="1100">
                <a:solidFill>
                  <a:schemeClr val="dk1"/>
                </a:solidFill>
              </a:rPr>
              <a:t>The Core Problem:</a:t>
            </a:r>
            <a:r>
              <a:rPr lang="en" sz="1100">
                <a:solidFill>
                  <a:schemeClr val="dk1"/>
                </a:solidFill>
              </a:rPr>
              <a:t> Standard GANs are notoriously unstable. The adversarial "game" can easily break down, causing the models to stop learning. We implemented several key techniques to ensure a stable and successful training process. </a:t>
            </a:r>
            <a:br>
              <a:rPr lang="en" sz="1100">
                <a:solidFill>
                  <a:schemeClr val="dk1"/>
                </a:solidFill>
              </a:rPr>
            </a:br>
            <a:br>
              <a:rPr lang="en" sz="1100">
                <a:solidFill>
                  <a:schemeClr val="dk1"/>
                </a:solidFill>
              </a:rPr>
            </a:br>
            <a:r>
              <a:rPr lang="en" sz="1100">
                <a:solidFill>
                  <a:schemeClr val="dk1"/>
                </a:solidFill>
              </a:rPr>
              <a:t>1.</a:t>
            </a:r>
            <a:r>
              <a:rPr b="1" lang="en" sz="1100">
                <a:solidFill>
                  <a:schemeClr val="dk1"/>
                </a:solidFill>
              </a:rPr>
              <a:t>Normalization</a:t>
            </a:r>
            <a:r>
              <a:rPr lang="en" sz="1100">
                <a:solidFill>
                  <a:schemeClr val="dk1"/>
                </a:solidFill>
              </a:rPr>
              <a:t> : </a:t>
            </a:r>
            <a:endParaRPr sz="1100">
              <a:solidFill>
                <a:schemeClr val="dk1"/>
              </a:solidFill>
            </a:endParaRPr>
          </a:p>
          <a:p>
            <a:pPr indent="-293370" lvl="0" marL="457200" rtl="0" algn="l">
              <a:spcBef>
                <a:spcPts val="120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Adjust the inputs or activations in neural networks like MLPs to maintain consistent scales.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Reduces internal covariate shifts </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more stable gradient descent in MLPs.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It improves sample quality and speeds up convergence, as shown in comparisons of methods</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lang="en" sz="1200">
                <a:solidFill>
                  <a:schemeClr val="dk1"/>
                </a:solidFill>
                <a:latin typeface="Roboto"/>
                <a:ea typeface="Roboto"/>
                <a:cs typeface="Roboto"/>
                <a:sym typeface="Roboto"/>
              </a:rPr>
              <a:t>Types of Normalization Tested here : </a:t>
            </a:r>
            <a:r>
              <a:rPr b="1" lang="en" sz="1200">
                <a:solidFill>
                  <a:schemeClr val="dk1"/>
                </a:solidFill>
                <a:latin typeface="Roboto"/>
                <a:ea typeface="Roboto"/>
                <a:cs typeface="Roboto"/>
                <a:sym typeface="Roboto"/>
              </a:rPr>
              <a:t>Batch Normalization, Spectral Normalization, layer Normalization. </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b="1" lang="en" sz="1200">
                <a:solidFill>
                  <a:schemeClr val="dk1"/>
                </a:solidFill>
                <a:latin typeface="Roboto"/>
                <a:ea typeface="Roboto"/>
                <a:cs typeface="Roboto"/>
                <a:sym typeface="Roboto"/>
              </a:rPr>
              <a:t>2&gt;Changing the Objective Function:</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lang="en" sz="1200">
                <a:solidFill>
                  <a:schemeClr val="dk1"/>
                </a:solidFill>
                <a:latin typeface="Roboto"/>
                <a:ea typeface="Roboto"/>
                <a:cs typeface="Roboto"/>
                <a:sym typeface="Roboto"/>
              </a:rPr>
              <a:t>In this project WGAN is used</a:t>
            </a:r>
            <a:br>
              <a:rPr lang="en" sz="1200">
                <a:solidFill>
                  <a:schemeClr val="dk1"/>
                </a:solidFill>
                <a:latin typeface="Roboto"/>
                <a:ea typeface="Roboto"/>
                <a:cs typeface="Roboto"/>
                <a:sym typeface="Roboto"/>
              </a:rPr>
            </a:br>
            <a:endParaRPr sz="1200">
              <a:solidFill>
                <a:schemeClr val="dk1"/>
              </a:solidFill>
              <a:latin typeface="Roboto"/>
              <a:ea typeface="Roboto"/>
              <a:cs typeface="Roboto"/>
              <a:sym typeface="Roboto"/>
            </a:endParaRPr>
          </a:p>
          <a:p>
            <a:pPr indent="0" lvl="0" marL="0" rtl="0" algn="l">
              <a:spcBef>
                <a:spcPts val="1200"/>
              </a:spcBef>
              <a:spcAft>
                <a:spcPts val="120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116625"/>
            <a:ext cx="8520600" cy="43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Normalization is Applied </a:t>
            </a:r>
            <a:endParaRPr/>
          </a:p>
        </p:txBody>
      </p:sp>
      <p:pic>
        <p:nvPicPr>
          <p:cNvPr id="190" name="Google Shape;190;p30"/>
          <p:cNvPicPr preferRelativeResize="0"/>
          <p:nvPr/>
        </p:nvPicPr>
        <p:blipFill>
          <a:blip r:embed="rId3">
            <a:alphaModFix/>
          </a:blip>
          <a:stretch>
            <a:fillRect/>
          </a:stretch>
        </p:blipFill>
        <p:spPr>
          <a:xfrm>
            <a:off x="311700" y="733975"/>
            <a:ext cx="3296426" cy="3864250"/>
          </a:xfrm>
          <a:prstGeom prst="rect">
            <a:avLst/>
          </a:prstGeom>
          <a:noFill/>
          <a:ln>
            <a:noFill/>
          </a:ln>
        </p:spPr>
      </p:pic>
      <p:sp>
        <p:nvSpPr>
          <p:cNvPr id="191" name="Google Shape;191;p30"/>
          <p:cNvSpPr txBox="1"/>
          <p:nvPr/>
        </p:nvSpPr>
        <p:spPr>
          <a:xfrm>
            <a:off x="3899175" y="883900"/>
            <a:ext cx="4286400" cy="8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Applied within each hidden layer, just before the activation function</a:t>
            </a:r>
            <a:endParaRPr sz="1800">
              <a:solidFill>
                <a:schemeClr val="dk2"/>
              </a:solidFill>
            </a:endParaRPr>
          </a:p>
        </p:txBody>
      </p:sp>
      <p:sp>
        <p:nvSpPr>
          <p:cNvPr id="192" name="Google Shape;192;p30"/>
          <p:cNvSpPr txBox="1"/>
          <p:nvPr/>
        </p:nvSpPr>
        <p:spPr>
          <a:xfrm>
            <a:off x="3908000" y="1748200"/>
            <a:ext cx="41364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Batch normalization works only on generator, in discriminator it </a:t>
            </a:r>
            <a:r>
              <a:rPr lang="en" sz="1800">
                <a:solidFill>
                  <a:schemeClr val="dk2"/>
                </a:solidFill>
              </a:rPr>
              <a:t>destabilize</a:t>
            </a:r>
            <a:r>
              <a:rPr lang="en" sz="1800">
                <a:solidFill>
                  <a:schemeClr val="dk2"/>
                </a:solidFill>
              </a:rPr>
              <a:t> the GAN</a:t>
            </a:r>
            <a:endParaRPr sz="1800">
              <a:solidFill>
                <a:schemeClr val="dk2"/>
              </a:solidFill>
            </a:endParaRPr>
          </a:p>
        </p:txBody>
      </p:sp>
      <p:sp>
        <p:nvSpPr>
          <p:cNvPr id="193" name="Google Shape;193;p30"/>
          <p:cNvSpPr txBox="1"/>
          <p:nvPr/>
        </p:nvSpPr>
        <p:spPr>
          <a:xfrm>
            <a:off x="3899275" y="2938825"/>
            <a:ext cx="42864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2"/>
                </a:solidFill>
              </a:rPr>
              <a:t>Spectral </a:t>
            </a:r>
            <a:r>
              <a:rPr lang="en" sz="1800">
                <a:solidFill>
                  <a:schemeClr val="dk2"/>
                </a:solidFill>
              </a:rPr>
              <a:t>normalization works only on generator, in discriminator it destabilize the GAN same as batch</a:t>
            </a:r>
            <a:endParaRPr sz="1800">
              <a:solidFill>
                <a:schemeClr val="dk2"/>
              </a:solidFill>
            </a:endParaRPr>
          </a:p>
        </p:txBody>
      </p:sp>
      <p:sp>
        <p:nvSpPr>
          <p:cNvPr id="194" name="Google Shape;194;p30"/>
          <p:cNvSpPr txBox="1"/>
          <p:nvPr/>
        </p:nvSpPr>
        <p:spPr>
          <a:xfrm>
            <a:off x="4022650" y="4129450"/>
            <a:ext cx="4021800" cy="7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Layer Normalization: a</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1"/>
          <p:cNvPicPr preferRelativeResize="0"/>
          <p:nvPr/>
        </p:nvPicPr>
        <p:blipFill>
          <a:blip r:embed="rId3">
            <a:alphaModFix/>
          </a:blip>
          <a:stretch>
            <a:fillRect/>
          </a:stretch>
        </p:blipFill>
        <p:spPr>
          <a:xfrm>
            <a:off x="760925" y="0"/>
            <a:ext cx="7348237" cy="4838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a:t>
            </a:r>
            <a:r>
              <a:rPr lang="en"/>
              <a:t> Loss For each Type of normalization</a:t>
            </a:r>
            <a:endParaRPr/>
          </a:p>
        </p:txBody>
      </p:sp>
      <p:pic>
        <p:nvPicPr>
          <p:cNvPr id="205" name="Google Shape;205;p32"/>
          <p:cNvPicPr preferRelativeResize="0"/>
          <p:nvPr/>
        </p:nvPicPr>
        <p:blipFill>
          <a:blip r:embed="rId3">
            <a:alphaModFix/>
          </a:blip>
          <a:stretch>
            <a:fillRect/>
          </a:stretch>
        </p:blipFill>
        <p:spPr>
          <a:xfrm>
            <a:off x="161225" y="1702000"/>
            <a:ext cx="3314626" cy="2321050"/>
          </a:xfrm>
          <a:prstGeom prst="rect">
            <a:avLst/>
          </a:prstGeom>
          <a:noFill/>
          <a:ln>
            <a:noFill/>
          </a:ln>
        </p:spPr>
      </p:pic>
      <p:pic>
        <p:nvPicPr>
          <p:cNvPr id="206" name="Google Shape;206;p32"/>
          <p:cNvPicPr preferRelativeResize="0"/>
          <p:nvPr/>
        </p:nvPicPr>
        <p:blipFill>
          <a:blip r:embed="rId4">
            <a:alphaModFix/>
          </a:blip>
          <a:stretch>
            <a:fillRect/>
          </a:stretch>
        </p:blipFill>
        <p:spPr>
          <a:xfrm>
            <a:off x="3113625" y="1701988"/>
            <a:ext cx="2916750" cy="2426550"/>
          </a:xfrm>
          <a:prstGeom prst="rect">
            <a:avLst/>
          </a:prstGeom>
          <a:noFill/>
          <a:ln>
            <a:noFill/>
          </a:ln>
        </p:spPr>
      </p:pic>
      <p:pic>
        <p:nvPicPr>
          <p:cNvPr id="207" name="Google Shape;207;p32"/>
          <p:cNvPicPr preferRelativeResize="0"/>
          <p:nvPr/>
        </p:nvPicPr>
        <p:blipFill>
          <a:blip r:embed="rId5">
            <a:alphaModFix/>
          </a:blip>
          <a:stretch>
            <a:fillRect/>
          </a:stretch>
        </p:blipFill>
        <p:spPr>
          <a:xfrm>
            <a:off x="6218700" y="1702012"/>
            <a:ext cx="2965374" cy="2321050"/>
          </a:xfrm>
          <a:prstGeom prst="rect">
            <a:avLst/>
          </a:prstGeom>
          <a:noFill/>
          <a:ln>
            <a:noFill/>
          </a:ln>
        </p:spPr>
      </p:pic>
      <p:sp>
        <p:nvSpPr>
          <p:cNvPr id="208" name="Google Shape;208;p32"/>
          <p:cNvSpPr txBox="1"/>
          <p:nvPr/>
        </p:nvSpPr>
        <p:spPr>
          <a:xfrm>
            <a:off x="477225" y="1016200"/>
            <a:ext cx="26364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Spectral normalization</a:t>
            </a:r>
            <a:endParaRPr sz="1800">
              <a:solidFill>
                <a:schemeClr val="dk2"/>
              </a:solidFill>
            </a:endParaRPr>
          </a:p>
        </p:txBody>
      </p:sp>
      <p:sp>
        <p:nvSpPr>
          <p:cNvPr id="209" name="Google Shape;209;p32"/>
          <p:cNvSpPr txBox="1"/>
          <p:nvPr/>
        </p:nvSpPr>
        <p:spPr>
          <a:xfrm>
            <a:off x="3211250" y="1122025"/>
            <a:ext cx="2636400" cy="3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Layer normalization</a:t>
            </a:r>
            <a:endParaRPr sz="1800">
              <a:solidFill>
                <a:schemeClr val="dk2"/>
              </a:solidFill>
            </a:endParaRPr>
          </a:p>
        </p:txBody>
      </p:sp>
      <p:sp>
        <p:nvSpPr>
          <p:cNvPr id="210" name="Google Shape;210;p32"/>
          <p:cNvSpPr txBox="1"/>
          <p:nvPr/>
        </p:nvSpPr>
        <p:spPr>
          <a:xfrm>
            <a:off x="6377450" y="1104400"/>
            <a:ext cx="24429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Batch normalization</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311700" y="7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Wasserstein</a:t>
            </a:r>
            <a:r>
              <a:rPr lang="en"/>
              <a:t> GAN</a:t>
            </a:r>
            <a:endParaRPr/>
          </a:p>
        </p:txBody>
      </p:sp>
      <p:sp>
        <p:nvSpPr>
          <p:cNvPr id="216" name="Google Shape;216;p33"/>
          <p:cNvSpPr txBox="1"/>
          <p:nvPr>
            <p:ph idx="1" type="body"/>
          </p:nvPr>
        </p:nvSpPr>
        <p:spPr>
          <a:xfrm>
            <a:off x="267600" y="1628725"/>
            <a:ext cx="37365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200"/>
              </a:spcBef>
              <a:spcAft>
                <a:spcPts val="0"/>
              </a:spcAft>
              <a:buClr>
                <a:schemeClr val="dk1"/>
              </a:buClr>
              <a:buSzPct val="91666"/>
              <a:buFont typeface="Arial"/>
              <a:buNone/>
            </a:pPr>
            <a:r>
              <a:rPr lang="en" sz="1200">
                <a:solidFill>
                  <a:schemeClr val="dk1"/>
                </a:solidFill>
                <a:latin typeface="Roboto"/>
                <a:ea typeface="Roboto"/>
                <a:cs typeface="Roboto"/>
                <a:sym typeface="Roboto"/>
              </a:rPr>
              <a:t>Advantages:</a:t>
            </a:r>
            <a:endParaRPr sz="1200">
              <a:solidFill>
                <a:schemeClr val="dk1"/>
              </a:solidFill>
              <a:latin typeface="Roboto"/>
              <a:ea typeface="Roboto"/>
              <a:cs typeface="Roboto"/>
              <a:sym typeface="Roboto"/>
            </a:endParaRPr>
          </a:p>
          <a:p>
            <a:pPr indent="-281940" lvl="0" marL="457200" rtl="0" algn="l">
              <a:spcBef>
                <a:spcPts val="60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Enhances training stability</a:t>
            </a:r>
            <a:r>
              <a:rPr lang="en" sz="1200">
                <a:solidFill>
                  <a:schemeClr val="dk1"/>
                </a:solidFill>
                <a:latin typeface="Roboto"/>
                <a:ea typeface="Roboto"/>
                <a:cs typeface="Roboto"/>
                <a:sym typeface="Roboto"/>
              </a:rPr>
              <a:t> by providing smooth, meaningful gradients even for disjoint distributions, reducing vanishing gradient issues.</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Mitigates mode collapse</a:t>
            </a:r>
            <a:r>
              <a:rPr lang="en" sz="1200">
                <a:solidFill>
                  <a:schemeClr val="dk1"/>
                </a:solidFill>
                <a:latin typeface="Roboto"/>
                <a:ea typeface="Roboto"/>
                <a:cs typeface="Roboto"/>
                <a:sym typeface="Roboto"/>
              </a:rPr>
              <a:t>, enabling diverse sample generation without generator collapse to limited modes.</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Offers better convergence and higher-quality outputs</a:t>
            </a:r>
            <a:r>
              <a:rPr lang="en" sz="1200">
                <a:solidFill>
                  <a:schemeClr val="dk1"/>
                </a:solidFill>
                <a:latin typeface="Roboto"/>
                <a:ea typeface="Roboto"/>
                <a:cs typeface="Roboto"/>
                <a:sym typeface="Roboto"/>
              </a:rPr>
              <a:t>, with more interpretable loss approximating real distribution distance.</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b="1" lang="en" sz="1200">
                <a:solidFill>
                  <a:schemeClr val="dk1"/>
                </a:solidFill>
                <a:latin typeface="Roboto"/>
                <a:ea typeface="Roboto"/>
                <a:cs typeface="Roboto"/>
                <a:sym typeface="Roboto"/>
              </a:rPr>
              <a:t>Avoids zero-sum game dynamics</a:t>
            </a:r>
            <a:r>
              <a:rPr lang="en" sz="1200">
                <a:solidFill>
                  <a:schemeClr val="dk1"/>
                </a:solidFill>
                <a:latin typeface="Roboto"/>
                <a:ea typeface="Roboto"/>
                <a:cs typeface="Roboto"/>
                <a:sym typeface="Roboto"/>
              </a:rPr>
              <a:t>, allowing cooperative minimization for reliable training in complex tasks like physics simulation</a:t>
            </a:r>
            <a:endParaRPr sz="1200">
              <a:solidFill>
                <a:schemeClr val="dk1"/>
              </a:solidFill>
              <a:latin typeface="Roboto"/>
              <a:ea typeface="Roboto"/>
              <a:cs typeface="Roboto"/>
              <a:sym typeface="Roboto"/>
            </a:endParaRPr>
          </a:p>
          <a:p>
            <a:pPr indent="0" lvl="0" marL="0" rtl="0" algn="l">
              <a:spcBef>
                <a:spcPts val="600"/>
              </a:spcBef>
              <a:spcAft>
                <a:spcPts val="0"/>
              </a:spcAft>
              <a:buNone/>
            </a:pPr>
            <a:r>
              <a:rPr lang="en" sz="1200">
                <a:solidFill>
                  <a:schemeClr val="dk1"/>
                </a:solidFill>
                <a:latin typeface="Roboto"/>
                <a:ea typeface="Roboto"/>
                <a:cs typeface="Roboto"/>
                <a:sym typeface="Roboto"/>
              </a:rPr>
              <a:t>Disadvantages:</a:t>
            </a:r>
            <a:endParaRPr sz="1200">
              <a:solidFill>
                <a:schemeClr val="dk1"/>
              </a:solidFill>
              <a:latin typeface="Roboto"/>
              <a:ea typeface="Roboto"/>
              <a:cs typeface="Roboto"/>
              <a:sym typeface="Roboto"/>
            </a:endParaRPr>
          </a:p>
          <a:p>
            <a:pPr indent="-281940" lvl="0" marL="457200" rtl="0" algn="l">
              <a:spcBef>
                <a:spcPts val="60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Requires enforcing 1-Lipschitz continuity (e.g., via weight clipping or gradient penalty), which can be computationally expensive and push weights to extremes.</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May need more tuning and can converge slower in some scenarios compared to vanilla GANs.</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Not universally superior; performs variably depending on data and application, with potential stability issues if constraints are violated</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pic>
        <p:nvPicPr>
          <p:cNvPr id="217" name="Google Shape;217;p33"/>
          <p:cNvPicPr preferRelativeResize="0"/>
          <p:nvPr/>
        </p:nvPicPr>
        <p:blipFill>
          <a:blip r:embed="rId3">
            <a:alphaModFix/>
          </a:blip>
          <a:stretch>
            <a:fillRect/>
          </a:stretch>
        </p:blipFill>
        <p:spPr>
          <a:xfrm>
            <a:off x="4813925" y="1570275"/>
            <a:ext cx="4100775" cy="1402275"/>
          </a:xfrm>
          <a:prstGeom prst="rect">
            <a:avLst/>
          </a:prstGeom>
          <a:noFill/>
          <a:ln>
            <a:noFill/>
          </a:ln>
        </p:spPr>
      </p:pic>
      <p:sp>
        <p:nvSpPr>
          <p:cNvPr id="218" name="Google Shape;218;p33"/>
          <p:cNvSpPr txBox="1"/>
          <p:nvPr/>
        </p:nvSpPr>
        <p:spPr>
          <a:xfrm>
            <a:off x="529175" y="875075"/>
            <a:ext cx="7840500" cy="8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Wasserstein GAN (WGAN)</a:t>
            </a:r>
            <a:r>
              <a:rPr lang="en" sz="1100">
                <a:solidFill>
                  <a:schemeClr val="dk1"/>
                </a:solidFill>
              </a:rPr>
              <a:t> is a type of </a:t>
            </a:r>
            <a:r>
              <a:rPr b="1" lang="en" sz="1100">
                <a:solidFill>
                  <a:schemeClr val="dk1"/>
                </a:solidFill>
              </a:rPr>
              <a:t>Generative Adversarial Network (GAN)</a:t>
            </a:r>
            <a:r>
              <a:rPr lang="en" sz="1100">
                <a:solidFill>
                  <a:schemeClr val="dk1"/>
                </a:solidFill>
              </a:rPr>
              <a:t> that uses the </a:t>
            </a:r>
            <a:r>
              <a:rPr b="1" lang="en" sz="1100">
                <a:solidFill>
                  <a:schemeClr val="dk1"/>
                </a:solidFill>
              </a:rPr>
              <a:t>Wasserstein distance (also called Earth Mover’s Distance)</a:t>
            </a:r>
            <a:r>
              <a:rPr lang="en" sz="1100">
                <a:solidFill>
                  <a:schemeClr val="dk1"/>
                </a:solidFill>
              </a:rPr>
              <a:t> as a measure of how different the generated data distribution is from the real data distribution.</a:t>
            </a:r>
            <a:endParaRPr sz="1800">
              <a:solidFill>
                <a:schemeClr val="dk2"/>
              </a:solidFill>
            </a:endParaRPr>
          </a:p>
        </p:txBody>
      </p:sp>
      <p:sp>
        <p:nvSpPr>
          <p:cNvPr id="219" name="Google Shape;219;p33"/>
          <p:cNvSpPr txBox="1"/>
          <p:nvPr/>
        </p:nvSpPr>
        <p:spPr>
          <a:xfrm>
            <a:off x="4859525" y="3326900"/>
            <a:ext cx="3736500" cy="7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Critirc  ‘C’ wants loss to be as high as possible</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Wasserstein</a:t>
            </a:r>
            <a:r>
              <a:rPr lang="en"/>
              <a:t> Gan </a:t>
            </a:r>
            <a:r>
              <a:rPr lang="en"/>
              <a:t>Variants</a:t>
            </a:r>
            <a:endParaRPr/>
          </a:p>
        </p:txBody>
      </p:sp>
      <p:sp>
        <p:nvSpPr>
          <p:cNvPr id="225" name="Google Shape;225;p34"/>
          <p:cNvSpPr txBox="1"/>
          <p:nvPr>
            <p:ph idx="1" type="body"/>
          </p:nvPr>
        </p:nvSpPr>
        <p:spPr>
          <a:xfrm>
            <a:off x="311700" y="1152475"/>
            <a:ext cx="55278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Here Two </a:t>
            </a:r>
            <a:r>
              <a:rPr lang="en"/>
              <a:t>Variants</a:t>
            </a:r>
            <a:r>
              <a:rPr lang="en"/>
              <a:t> of </a:t>
            </a:r>
            <a:r>
              <a:rPr lang="en"/>
              <a:t>Wasserstein</a:t>
            </a:r>
            <a:r>
              <a:rPr lang="en"/>
              <a:t> were explored one using weight </a:t>
            </a:r>
            <a:r>
              <a:rPr lang="en"/>
              <a:t>clipping</a:t>
            </a:r>
            <a:r>
              <a:rPr lang="en"/>
              <a:t> and using spectral Normalization: </a:t>
            </a:r>
            <a:br>
              <a:rPr lang="en"/>
            </a:br>
            <a:br>
              <a:rPr lang="en"/>
            </a:br>
            <a:r>
              <a:rPr lang="en" sz="1200">
                <a:solidFill>
                  <a:schemeClr val="dk1"/>
                </a:solidFill>
                <a:latin typeface="Roboto"/>
                <a:ea typeface="Roboto"/>
                <a:cs typeface="Roboto"/>
                <a:sym typeface="Roboto"/>
              </a:rPr>
              <a:t>Variant 1: Weight Clipping (Original WGAN):</a:t>
            </a:r>
            <a:endParaRPr sz="1200">
              <a:solidFill>
                <a:schemeClr val="dk1"/>
              </a:solidFill>
              <a:latin typeface="Roboto"/>
              <a:ea typeface="Roboto"/>
              <a:cs typeface="Roboto"/>
              <a:sym typeface="Roboto"/>
            </a:endParaRPr>
          </a:p>
          <a:p>
            <a:pPr indent="-281940" lvl="0" marL="457200" rtl="0" algn="l">
              <a:spcBef>
                <a:spcPts val="120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How it Works: Clips critic weights to a fixed range (e.g., [-0.01, 0.01]) after each update to approximate 1-Lipschitz continuity, preventing the critic from becoming too sensitive.</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Advantages: Simple to implement; provides basic stability by bounding weights and reducing vanishing gradients.</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Disadvantages: Can lead to suboptimal capacity (weights pushed to extremes), causing vanishing/exploding gradients or poor convergence; often requires careful tuning of clipping range.</a:t>
            </a:r>
            <a:endParaRPr sz="1200">
              <a:solidFill>
                <a:schemeClr val="dk1"/>
              </a:solidFill>
              <a:latin typeface="Roboto"/>
              <a:ea typeface="Roboto"/>
              <a:cs typeface="Roboto"/>
              <a:sym typeface="Roboto"/>
            </a:endParaRPr>
          </a:p>
          <a:p>
            <a:pPr indent="0" lvl="0" marL="0" rtl="0" algn="l">
              <a:spcBef>
                <a:spcPts val="600"/>
              </a:spcBef>
              <a:spcAft>
                <a:spcPts val="0"/>
              </a:spcAft>
              <a:buClr>
                <a:schemeClr val="dk1"/>
              </a:buClr>
              <a:buSzPct val="91666"/>
              <a:buFont typeface="Arial"/>
              <a:buNone/>
            </a:pPr>
            <a:r>
              <a:rPr lang="en" sz="1200">
                <a:solidFill>
                  <a:schemeClr val="dk1"/>
                </a:solidFill>
                <a:latin typeface="Roboto"/>
                <a:ea typeface="Roboto"/>
                <a:cs typeface="Roboto"/>
                <a:sym typeface="Roboto"/>
              </a:rPr>
              <a:t>Variant 2: Spectral Normalization (SN in WGAN):</a:t>
            </a:r>
            <a:endParaRPr sz="1200">
              <a:solidFill>
                <a:schemeClr val="dk1"/>
              </a:solidFill>
              <a:latin typeface="Roboto"/>
              <a:ea typeface="Roboto"/>
              <a:cs typeface="Roboto"/>
              <a:sym typeface="Roboto"/>
            </a:endParaRPr>
          </a:p>
          <a:p>
            <a:pPr indent="-281940" lvl="0" marL="457200" rtl="0" algn="l">
              <a:spcBef>
                <a:spcPts val="60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How it Works: Normalizes the spectral norm (largest singular value) of each weight matrix to 1 using power iteration, directly enforcing the 1-Lipschitz constraint without clipping.</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Advantages: Improves stability and avoids weight extremes; allows higher critic capacity for better gradients and sample quality; computationally efficient with one power iteration per update.</a:t>
            </a:r>
            <a:endParaRPr sz="1200">
              <a:solidFill>
                <a:schemeClr val="dk1"/>
              </a:solidFill>
              <a:latin typeface="Roboto"/>
              <a:ea typeface="Roboto"/>
              <a:cs typeface="Roboto"/>
              <a:sym typeface="Roboto"/>
            </a:endParaRPr>
          </a:p>
          <a:p>
            <a:pPr indent="-281940" lvl="0" marL="457200" rtl="0" algn="l">
              <a:spcBef>
                <a:spcPts val="0"/>
              </a:spcBef>
              <a:spcAft>
                <a:spcPts val="0"/>
              </a:spcAft>
              <a:buClr>
                <a:schemeClr val="dk1"/>
              </a:buClr>
              <a:buSzPct val="100000"/>
              <a:buFont typeface="Roboto"/>
              <a:buChar char="●"/>
            </a:pPr>
            <a:r>
              <a:rPr lang="en" sz="1200">
                <a:solidFill>
                  <a:schemeClr val="dk1"/>
                </a:solidFill>
                <a:latin typeface="Roboto"/>
                <a:ea typeface="Roboto"/>
                <a:cs typeface="Roboto"/>
                <a:sym typeface="Roboto"/>
              </a:rPr>
              <a:t>Disadvantages: Approximation may not perfectly enforce Lipschitz in complex networks; can be unstable without additional tricks like gradient penalty; requires careful integration with WGAN loss</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
        <p:nvSpPr>
          <p:cNvPr id="226" name="Google Shape;226;p34"/>
          <p:cNvSpPr txBox="1"/>
          <p:nvPr/>
        </p:nvSpPr>
        <p:spPr>
          <a:xfrm>
            <a:off x="6354000" y="901525"/>
            <a:ext cx="2478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Hyper parameters for</a:t>
            </a:r>
            <a:endParaRPr sz="1800">
              <a:solidFill>
                <a:schemeClr val="dk2"/>
              </a:solidFill>
            </a:endParaRPr>
          </a:p>
        </p:txBody>
      </p:sp>
      <p:sp>
        <p:nvSpPr>
          <p:cNvPr id="227" name="Google Shape;227;p34"/>
          <p:cNvSpPr txBox="1"/>
          <p:nvPr/>
        </p:nvSpPr>
        <p:spPr>
          <a:xfrm>
            <a:off x="6298075" y="1554175"/>
            <a:ext cx="1411200" cy="5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N_critic = 5</a:t>
            </a:r>
            <a:endParaRPr sz="1800">
              <a:solidFill>
                <a:schemeClr val="dk2"/>
              </a:solidFill>
            </a:endParaRPr>
          </a:p>
        </p:txBody>
      </p:sp>
      <p:sp>
        <p:nvSpPr>
          <p:cNvPr id="228" name="Google Shape;228;p34"/>
          <p:cNvSpPr txBox="1"/>
          <p:nvPr/>
        </p:nvSpPr>
        <p:spPr>
          <a:xfrm>
            <a:off x="6051125" y="2198000"/>
            <a:ext cx="2478300" cy="3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Weight </a:t>
            </a:r>
            <a:r>
              <a:rPr lang="en" sz="1800">
                <a:solidFill>
                  <a:schemeClr val="dk2"/>
                </a:solidFill>
              </a:rPr>
              <a:t>clipping</a:t>
            </a:r>
            <a:r>
              <a:rPr lang="en" sz="1800">
                <a:solidFill>
                  <a:schemeClr val="dk2"/>
                </a:solidFill>
              </a:rPr>
              <a:t> = 0.01</a:t>
            </a:r>
            <a:endParaRPr sz="1800">
              <a:solidFill>
                <a:schemeClr val="dk2"/>
              </a:solidFill>
            </a:endParaRPr>
          </a:p>
        </p:txBody>
      </p:sp>
      <p:sp>
        <p:nvSpPr>
          <p:cNvPr id="229" name="Google Shape;229;p34">
            <a:hlinkClick r:id="rId3"/>
          </p:cNvPr>
          <p:cNvSpPr txBox="1"/>
          <p:nvPr/>
        </p:nvSpPr>
        <p:spPr>
          <a:xfrm>
            <a:off x="5010425" y="107800"/>
            <a:ext cx="3519000" cy="4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lang="en" sz="1200" u="sng">
                <a:solidFill>
                  <a:schemeClr val="hlink"/>
                </a:solidFill>
                <a:hlinkClick r:id="rId4"/>
              </a:rPr>
              <a:t> Regularization and Normalization in GANs</a:t>
            </a:r>
            <a:r>
              <a:rPr lang="en" sz="1200">
                <a:solidFill>
                  <a:schemeClr val="dk2"/>
                </a:solidFill>
              </a:rPr>
              <a:t> </a:t>
            </a:r>
            <a:endParaRPr sz="12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1700">
                <a:latin typeface="Roboto"/>
                <a:ea typeface="Roboto"/>
                <a:cs typeface="Roboto"/>
                <a:sym typeface="Roboto"/>
              </a:rPr>
              <a:t>WGAN Training Steps</a:t>
            </a:r>
            <a:endParaRPr/>
          </a:p>
        </p:txBody>
      </p:sp>
      <p:sp>
        <p:nvSpPr>
          <p:cNvPr id="235" name="Google Shape;23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600"/>
              </a:spcBef>
              <a:spcAft>
                <a:spcPts val="0"/>
              </a:spcAft>
              <a:buClr>
                <a:schemeClr val="dk1"/>
              </a:buClr>
              <a:buSzPts val="1100"/>
              <a:buFont typeface="Arial"/>
              <a:buNone/>
            </a:pPr>
            <a:r>
              <a:rPr lang="en" sz="1200">
                <a:solidFill>
                  <a:schemeClr val="dk1"/>
                </a:solidFill>
                <a:latin typeface="Roboto"/>
                <a:ea typeface="Roboto"/>
                <a:cs typeface="Roboto"/>
                <a:sym typeface="Roboto"/>
              </a:rPr>
              <a:t>1. The critic network is first trained on a real batch of data, then trained on a batch of data generated from a noise prior via the generator.</a:t>
            </a:r>
            <a:endParaRPr sz="12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2. The critic's loss function is arranged such that it estimates the Wasserstein Distance (maximizes the distance between the two distributions) &gt; then clips its own weights to ensure it is 1-Lipschitz-Continuous.</a:t>
            </a:r>
            <a:endParaRPr sz="12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Note: The critic's loss is an approximation of the negative Wasserstein distance between the generator distribution and the data distribution.</a:t>
            </a:r>
            <a:endParaRPr sz="12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3. Then, the generator generates a new batch of images from a noise prior, passes these through to the critic who then "informs" the generator of the Wasserstein-1 distance between the true distribution and the distribution of the images the Generator just created.</a:t>
            </a:r>
            <a:endParaRPr sz="12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4. It does this via the loss function of the critic. The critic's weights are frozen and the error propagates all the way back through to the generator who then updates its parameters to minimize the Wasserstein distance.</a:t>
            </a:r>
            <a:endParaRPr sz="12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chemeClr val="dk1"/>
                </a:solidFill>
                <a:latin typeface="Roboto"/>
                <a:ea typeface="Roboto"/>
                <a:cs typeface="Roboto"/>
                <a:sym typeface="Roboto"/>
              </a:rPr>
              <a:t>5. This repeats until the loss (hopefully) converges to near zero and the distributions are approximately equal</a:t>
            </a:r>
            <a:endParaRPr sz="1200">
              <a:solidFill>
                <a:schemeClr val="dk1"/>
              </a:solidFill>
              <a:latin typeface="Roboto"/>
              <a:ea typeface="Roboto"/>
              <a:cs typeface="Roboto"/>
              <a:sym typeface="Roboto"/>
            </a:endParaRPr>
          </a:p>
          <a:p>
            <a:pPr indent="0" lvl="0" marL="0" rtl="0" algn="l">
              <a:spcBef>
                <a:spcPts val="6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type="title"/>
          </p:nvPr>
        </p:nvSpPr>
        <p:spPr>
          <a:xfrm>
            <a:off x="62725" y="220500"/>
            <a:ext cx="1323000" cy="324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620"/>
              <a:t>Outputs Of </a:t>
            </a:r>
            <a:r>
              <a:rPr lang="en" sz="1620"/>
              <a:t>Wasserstein</a:t>
            </a:r>
            <a:r>
              <a:rPr lang="en" sz="1620"/>
              <a:t> Gans</a:t>
            </a:r>
            <a:endParaRPr sz="1620"/>
          </a:p>
        </p:txBody>
      </p:sp>
      <p:pic>
        <p:nvPicPr>
          <p:cNvPr id="241" name="Google Shape;241;p36"/>
          <p:cNvPicPr preferRelativeResize="0"/>
          <p:nvPr/>
        </p:nvPicPr>
        <p:blipFill>
          <a:blip r:embed="rId3">
            <a:alphaModFix/>
          </a:blip>
          <a:stretch>
            <a:fillRect/>
          </a:stretch>
        </p:blipFill>
        <p:spPr>
          <a:xfrm>
            <a:off x="1526675" y="405700"/>
            <a:ext cx="7489501" cy="46772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Loss for Wassertien GAN</a:t>
            </a:r>
            <a:endParaRPr/>
          </a:p>
        </p:txBody>
      </p:sp>
      <p:pic>
        <p:nvPicPr>
          <p:cNvPr id="247" name="Google Shape;247;p37"/>
          <p:cNvPicPr preferRelativeResize="0"/>
          <p:nvPr/>
        </p:nvPicPr>
        <p:blipFill>
          <a:blip r:embed="rId3">
            <a:alphaModFix/>
          </a:blip>
          <a:stretch>
            <a:fillRect/>
          </a:stretch>
        </p:blipFill>
        <p:spPr>
          <a:xfrm>
            <a:off x="143575" y="1690425"/>
            <a:ext cx="4215175" cy="2780350"/>
          </a:xfrm>
          <a:prstGeom prst="rect">
            <a:avLst/>
          </a:prstGeom>
          <a:noFill/>
          <a:ln>
            <a:noFill/>
          </a:ln>
        </p:spPr>
      </p:pic>
      <p:sp>
        <p:nvSpPr>
          <p:cNvPr id="248" name="Google Shape;248;p37"/>
          <p:cNvSpPr txBox="1"/>
          <p:nvPr/>
        </p:nvSpPr>
        <p:spPr>
          <a:xfrm>
            <a:off x="1015225" y="1280775"/>
            <a:ext cx="29634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WGAN - weight cliping</a:t>
            </a:r>
            <a:endParaRPr sz="1800">
              <a:solidFill>
                <a:schemeClr val="dk2"/>
              </a:solidFill>
            </a:endParaRPr>
          </a:p>
        </p:txBody>
      </p:sp>
      <p:sp>
        <p:nvSpPr>
          <p:cNvPr id="249" name="Google Shape;249;p37"/>
          <p:cNvSpPr txBox="1"/>
          <p:nvPr/>
        </p:nvSpPr>
        <p:spPr>
          <a:xfrm>
            <a:off x="5063350" y="1069125"/>
            <a:ext cx="34572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WGAN- spectral normalization</a:t>
            </a:r>
            <a:endParaRPr sz="1800">
              <a:solidFill>
                <a:schemeClr val="dk2"/>
              </a:solidFill>
            </a:endParaRPr>
          </a:p>
        </p:txBody>
      </p:sp>
      <p:pic>
        <p:nvPicPr>
          <p:cNvPr id="250" name="Google Shape;250;p37"/>
          <p:cNvPicPr preferRelativeResize="0"/>
          <p:nvPr/>
        </p:nvPicPr>
        <p:blipFill>
          <a:blip r:embed="rId4">
            <a:alphaModFix/>
          </a:blip>
          <a:stretch>
            <a:fillRect/>
          </a:stretch>
        </p:blipFill>
        <p:spPr>
          <a:xfrm>
            <a:off x="4511150" y="1652025"/>
            <a:ext cx="4480450" cy="257041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Model: From Vanilla GAN to Conditional GAN</a:t>
            </a:r>
            <a:endParaRPr/>
          </a:p>
        </p:txBody>
      </p:sp>
      <p:sp>
        <p:nvSpPr>
          <p:cNvPr id="256" name="Google Shape;256;p38"/>
          <p:cNvSpPr txBox="1"/>
          <p:nvPr>
            <p:ph idx="1" type="body"/>
          </p:nvPr>
        </p:nvSpPr>
        <p:spPr>
          <a:xfrm>
            <a:off x="311700" y="1152475"/>
            <a:ext cx="8520600" cy="3783600"/>
          </a:xfrm>
          <a:prstGeom prst="rect">
            <a:avLst/>
          </a:prstGeom>
        </p:spPr>
        <p:txBody>
          <a:bodyPr anchorCtr="0" anchor="t" bIns="91425" lIns="91425" spcFirstLastPara="1" rIns="91425" wrap="square" tIns="91425">
            <a:normAutofit fontScale="25000" lnSpcReduction="20000"/>
          </a:bodyPr>
          <a:lstStyle/>
          <a:p>
            <a:pPr indent="0" lvl="0" marL="0" rtl="0" algn="l">
              <a:lnSpc>
                <a:spcPct val="162500"/>
              </a:lnSpc>
              <a:spcBef>
                <a:spcPts val="600"/>
              </a:spcBef>
              <a:spcAft>
                <a:spcPts val="0"/>
              </a:spcAft>
              <a:buClr>
                <a:schemeClr val="dk1"/>
              </a:buClr>
              <a:buSzPct val="27500"/>
              <a:buFont typeface="Arial"/>
              <a:buNone/>
            </a:pPr>
            <a:r>
              <a:rPr lang="en" sz="4000">
                <a:solidFill>
                  <a:schemeClr val="dk1"/>
                </a:solidFill>
                <a:latin typeface="Roboto"/>
                <a:ea typeface="Roboto"/>
                <a:cs typeface="Roboto"/>
                <a:sym typeface="Roboto"/>
              </a:rPr>
              <a:t>he Vanilla GAN</a:t>
            </a:r>
            <a:br>
              <a:rPr lang="en" sz="4000">
                <a:solidFill>
                  <a:schemeClr val="dk1"/>
                </a:solidFill>
                <a:latin typeface="Roboto"/>
                <a:ea typeface="Roboto"/>
                <a:cs typeface="Roboto"/>
                <a:sym typeface="Roboto"/>
              </a:rPr>
            </a:br>
            <a:r>
              <a:rPr lang="en" sz="4000">
                <a:solidFill>
                  <a:schemeClr val="dk1"/>
                </a:solidFill>
                <a:latin typeface="Roboto"/>
                <a:ea typeface="Roboto"/>
                <a:cs typeface="Roboto"/>
                <a:sym typeface="Roboto"/>
              </a:rPr>
              <a:t>A standard GAN learns the overall distribution of the data but offers no control over its output.</a:t>
            </a:r>
            <a:br>
              <a:rPr lang="en" sz="4000">
                <a:solidFill>
                  <a:schemeClr val="dk1"/>
                </a:solidFill>
                <a:latin typeface="Roboto"/>
                <a:ea typeface="Roboto"/>
                <a:cs typeface="Roboto"/>
                <a:sym typeface="Roboto"/>
              </a:rPr>
            </a:br>
            <a:r>
              <a:rPr lang="en" sz="4000">
                <a:solidFill>
                  <a:schemeClr val="dk1"/>
                </a:solidFill>
                <a:latin typeface="Roboto"/>
                <a:ea typeface="Roboto"/>
                <a:cs typeface="Roboto"/>
                <a:sym typeface="Roboto"/>
              </a:rPr>
              <a:t>It is like an artist who can paint in a certain style but cannot take requests. This serves as the performance baseline in the project.</a:t>
            </a:r>
            <a:endParaRPr sz="4000">
              <a:solidFill>
                <a:schemeClr val="dk1"/>
              </a:solidFill>
              <a:latin typeface="Roboto"/>
              <a:ea typeface="Roboto"/>
              <a:cs typeface="Roboto"/>
              <a:sym typeface="Roboto"/>
            </a:endParaRPr>
          </a:p>
          <a:p>
            <a:pPr indent="0" lvl="0" marL="0" rtl="0" algn="l">
              <a:lnSpc>
                <a:spcPct val="162500"/>
              </a:lnSpc>
              <a:spcBef>
                <a:spcPts val="1200"/>
              </a:spcBef>
              <a:spcAft>
                <a:spcPts val="0"/>
              </a:spcAft>
              <a:buClr>
                <a:schemeClr val="dk1"/>
              </a:buClr>
              <a:buSzPct val="27500"/>
              <a:buFont typeface="Arial"/>
              <a:buNone/>
            </a:pPr>
            <a:r>
              <a:rPr b="1" lang="en" sz="4000">
                <a:solidFill>
                  <a:schemeClr val="dk1"/>
                </a:solidFill>
                <a:latin typeface="Roboto"/>
                <a:ea typeface="Roboto"/>
                <a:cs typeface="Roboto"/>
                <a:sym typeface="Roboto"/>
              </a:rPr>
              <a:t>The Extension: Conditional GAN (cGAN) for Controlled Generation</a:t>
            </a:r>
            <a:br>
              <a:rPr lang="en" sz="4000">
                <a:solidFill>
                  <a:schemeClr val="dk1"/>
                </a:solidFill>
                <a:latin typeface="Roboto"/>
                <a:ea typeface="Roboto"/>
                <a:cs typeface="Roboto"/>
                <a:sym typeface="Roboto"/>
              </a:rPr>
            </a:br>
            <a:r>
              <a:rPr lang="en" sz="4000">
                <a:solidFill>
                  <a:schemeClr val="dk1"/>
                </a:solidFill>
                <a:latin typeface="Roboto"/>
                <a:ea typeface="Roboto"/>
                <a:cs typeface="Roboto"/>
                <a:sym typeface="Roboto"/>
              </a:rPr>
              <a:t>The cGAN is a direct extension of the original model. Its purpose is to allow control over the generator's output by providing an extra piece of information, a "condition" or label (y).</a:t>
            </a:r>
            <a:endParaRPr sz="4000">
              <a:solidFill>
                <a:schemeClr val="dk1"/>
              </a:solidFill>
              <a:latin typeface="Roboto"/>
              <a:ea typeface="Roboto"/>
              <a:cs typeface="Roboto"/>
              <a:sym typeface="Roboto"/>
            </a:endParaRPr>
          </a:p>
          <a:p>
            <a:pPr indent="0" lvl="0" marL="0" rtl="0" algn="l">
              <a:lnSpc>
                <a:spcPct val="162500"/>
              </a:lnSpc>
              <a:spcBef>
                <a:spcPts val="1200"/>
              </a:spcBef>
              <a:spcAft>
                <a:spcPts val="0"/>
              </a:spcAft>
              <a:buNone/>
            </a:pPr>
            <a:r>
              <a:rPr b="1" lang="en" sz="4000">
                <a:solidFill>
                  <a:schemeClr val="dk1"/>
                </a:solidFill>
                <a:latin typeface="Roboto"/>
                <a:ea typeface="Roboto"/>
                <a:cs typeface="Roboto"/>
                <a:sym typeface="Roboto"/>
              </a:rPr>
              <a:t>The Key Insight: Same Game, New Rule</a:t>
            </a:r>
            <a:endParaRPr sz="4000">
              <a:solidFill>
                <a:schemeClr val="dk1"/>
              </a:solidFill>
              <a:latin typeface="Roboto"/>
              <a:ea typeface="Roboto"/>
              <a:cs typeface="Roboto"/>
              <a:sym typeface="Roboto"/>
            </a:endParaRPr>
          </a:p>
          <a:p>
            <a:pPr indent="-292100" lvl="0" marL="457200" rtl="0" algn="l">
              <a:lnSpc>
                <a:spcPct val="162500"/>
              </a:lnSpc>
              <a:spcBef>
                <a:spcPts val="1200"/>
              </a:spcBef>
              <a:spcAft>
                <a:spcPts val="0"/>
              </a:spcAft>
              <a:buClr>
                <a:schemeClr val="dk1"/>
              </a:buClr>
              <a:buSzPct val="100000"/>
              <a:buFont typeface="Roboto"/>
              <a:buChar char="●"/>
            </a:pPr>
            <a:r>
              <a:rPr lang="en" sz="4000">
                <a:solidFill>
                  <a:schemeClr val="dk1"/>
                </a:solidFill>
                <a:latin typeface="Roboto"/>
                <a:ea typeface="Roboto"/>
                <a:cs typeface="Roboto"/>
                <a:sym typeface="Roboto"/>
              </a:rPr>
              <a:t>The underlying training process is identical to a Vanilla GAN. It still uses the same core objective function (the minimax game between the Generator and Discriminator).</a:t>
            </a:r>
            <a:endParaRPr sz="4000">
              <a:solidFill>
                <a:schemeClr val="dk1"/>
              </a:solidFill>
              <a:latin typeface="Roboto"/>
              <a:ea typeface="Roboto"/>
              <a:cs typeface="Roboto"/>
              <a:sym typeface="Roboto"/>
            </a:endParaRPr>
          </a:p>
          <a:p>
            <a:pPr indent="-292100" lvl="0" marL="457200" rtl="0" algn="l">
              <a:lnSpc>
                <a:spcPct val="162500"/>
              </a:lnSpc>
              <a:spcBef>
                <a:spcPts val="0"/>
              </a:spcBef>
              <a:spcAft>
                <a:spcPts val="0"/>
              </a:spcAft>
              <a:buClr>
                <a:schemeClr val="dk1"/>
              </a:buClr>
              <a:buSzPct val="100000"/>
              <a:buFont typeface="Roboto"/>
              <a:buChar char="●"/>
            </a:pPr>
            <a:r>
              <a:rPr lang="en" sz="4000">
                <a:solidFill>
                  <a:schemeClr val="dk1"/>
                </a:solidFill>
                <a:latin typeface="Roboto"/>
                <a:ea typeface="Roboto"/>
                <a:cs typeface="Roboto"/>
                <a:sym typeface="Roboto"/>
              </a:rPr>
              <a:t>The only difference is that every decision is now conditional. Both the Generator and the Discriminator are shown the condition y, forcing them to make their moves based on that specific context.</a:t>
            </a:r>
            <a:endParaRPr sz="4000">
              <a:solidFill>
                <a:schemeClr val="dk1"/>
              </a:solidFill>
              <a:latin typeface="Roboto"/>
              <a:ea typeface="Roboto"/>
              <a:cs typeface="Roboto"/>
              <a:sym typeface="Roboto"/>
            </a:endParaRPr>
          </a:p>
          <a:p>
            <a:pPr indent="0" lvl="0" marL="0" rtl="0" algn="l">
              <a:lnSpc>
                <a:spcPct val="162500"/>
              </a:lnSpc>
              <a:spcBef>
                <a:spcPts val="1200"/>
              </a:spcBef>
              <a:spcAft>
                <a:spcPts val="0"/>
              </a:spcAft>
              <a:buClr>
                <a:schemeClr val="dk1"/>
              </a:buClr>
              <a:buSzPct val="27500"/>
              <a:buFont typeface="Arial"/>
              <a:buNone/>
            </a:pPr>
            <a:r>
              <a:rPr b="1" lang="en" sz="4000">
                <a:solidFill>
                  <a:schemeClr val="dk1"/>
                </a:solidFill>
                <a:latin typeface="Roboto"/>
                <a:ea typeface="Roboto"/>
                <a:cs typeface="Roboto"/>
                <a:sym typeface="Roboto"/>
              </a:rPr>
              <a:t>Why This is Critical for the Project</a:t>
            </a:r>
            <a:br>
              <a:rPr lang="en" sz="4000">
                <a:solidFill>
                  <a:schemeClr val="dk1"/>
                </a:solidFill>
                <a:latin typeface="Roboto"/>
                <a:ea typeface="Roboto"/>
                <a:cs typeface="Roboto"/>
                <a:sym typeface="Roboto"/>
              </a:rPr>
            </a:br>
            <a:r>
              <a:rPr lang="en" sz="4000">
                <a:solidFill>
                  <a:schemeClr val="dk1"/>
                </a:solidFill>
                <a:latin typeface="Roboto"/>
                <a:ea typeface="Roboto"/>
                <a:cs typeface="Roboto"/>
                <a:sym typeface="Roboto"/>
              </a:rPr>
              <a:t>This allows for a direct performance comparison of GAN on </a:t>
            </a:r>
            <a:r>
              <a:rPr lang="en" sz="4000">
                <a:solidFill>
                  <a:schemeClr val="dk1"/>
                </a:solidFill>
                <a:latin typeface="Roboto"/>
                <a:ea typeface="Roboto"/>
                <a:cs typeface="Roboto"/>
                <a:sym typeface="Roboto"/>
              </a:rPr>
              <a:t>different</a:t>
            </a:r>
            <a:r>
              <a:rPr lang="en" sz="4000">
                <a:solidFill>
                  <a:schemeClr val="dk1"/>
                </a:solidFill>
                <a:latin typeface="Roboto"/>
                <a:ea typeface="Roboto"/>
                <a:cs typeface="Roboto"/>
                <a:sym typeface="Roboto"/>
              </a:rPr>
              <a:t> materials Data</a:t>
            </a:r>
            <a:endParaRPr sz="4000">
              <a:solidFill>
                <a:schemeClr val="dk1"/>
              </a:solidFill>
              <a:latin typeface="Roboto"/>
              <a:ea typeface="Roboto"/>
              <a:cs typeface="Roboto"/>
              <a:sym typeface="Roboto"/>
            </a:endParaRPr>
          </a:p>
          <a:p>
            <a:pPr indent="0" lvl="0" marL="0" rtl="0" algn="l">
              <a:lnSpc>
                <a:spcPct val="162500"/>
              </a:lnSpc>
              <a:spcBef>
                <a:spcPts val="600"/>
              </a:spcBef>
              <a:spcAft>
                <a:spcPts val="0"/>
              </a:spcAft>
              <a:buClr>
                <a:schemeClr val="dk1"/>
              </a:buClr>
              <a:buSzPct val="100000"/>
              <a:buFont typeface="Arial"/>
              <a:buNone/>
            </a:pPr>
            <a:r>
              <a:t/>
            </a:r>
            <a:endParaRPr sz="11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226375"/>
            <a:ext cx="8520600" cy="423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Output Of Conditional GAN</a:t>
            </a:r>
            <a:endParaRPr/>
          </a:p>
        </p:txBody>
      </p:sp>
      <p:pic>
        <p:nvPicPr>
          <p:cNvPr id="262" name="Google Shape;262;p39"/>
          <p:cNvPicPr preferRelativeResize="0"/>
          <p:nvPr/>
        </p:nvPicPr>
        <p:blipFill>
          <a:blip r:embed="rId3">
            <a:alphaModFix/>
          </a:blip>
          <a:stretch>
            <a:fillRect/>
          </a:stretch>
        </p:blipFill>
        <p:spPr>
          <a:xfrm>
            <a:off x="416475" y="729075"/>
            <a:ext cx="8415823" cy="4374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type="title"/>
          </p:nvPr>
        </p:nvSpPr>
        <p:spPr>
          <a:xfrm>
            <a:off x="717400" y="0"/>
            <a:ext cx="8520600" cy="804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500"/>
              <a:t>Training Loss for Conditional GAN</a:t>
            </a:r>
            <a:endParaRPr sz="2500"/>
          </a:p>
        </p:txBody>
      </p:sp>
      <p:pic>
        <p:nvPicPr>
          <p:cNvPr id="268" name="Google Shape;268;p40"/>
          <p:cNvPicPr preferRelativeResize="0"/>
          <p:nvPr/>
        </p:nvPicPr>
        <p:blipFill>
          <a:blip r:embed="rId3">
            <a:alphaModFix/>
          </a:blip>
          <a:stretch>
            <a:fillRect/>
          </a:stretch>
        </p:blipFill>
        <p:spPr>
          <a:xfrm>
            <a:off x="1563550" y="596875"/>
            <a:ext cx="6918055" cy="382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Take</a:t>
            </a:r>
            <a:endParaRPr/>
          </a:p>
        </p:txBody>
      </p:sp>
      <p:sp>
        <p:nvSpPr>
          <p:cNvPr id="274" name="Google Shape;27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Gan with Parameters optimized with Optuna performs Better than All of the other techniques, </a:t>
            </a:r>
            <a:br>
              <a:rPr lang="en"/>
            </a:br>
            <a:br>
              <a:rPr lang="en"/>
            </a:br>
            <a:r>
              <a:rPr lang="en"/>
              <a:t>In future, if instability is </a:t>
            </a:r>
            <a:r>
              <a:rPr lang="en"/>
              <a:t>observed</a:t>
            </a:r>
            <a:r>
              <a:rPr lang="en"/>
              <a:t> in GAN then the explored </a:t>
            </a:r>
            <a:r>
              <a:rPr lang="en"/>
              <a:t>stabilizing</a:t>
            </a:r>
            <a:r>
              <a:rPr lang="en"/>
              <a:t> techniques can be explored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280" name="Google Shape;28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Next Step: Test for Cumulative Physical Accuracy</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The definitive test is to evaluate the GAN's performance over a </a:t>
            </a:r>
            <a:r>
              <a:rPr b="1" lang="en" sz="1100">
                <a:solidFill>
                  <a:schemeClr val="dk1"/>
                </a:solidFill>
              </a:rPr>
              <a:t>full, multi-step muon track</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will be performed using the </a:t>
            </a:r>
            <a:r>
              <a:rPr lang="en" sz="1100">
                <a:solidFill>
                  <a:srgbClr val="188038"/>
                </a:solidFill>
                <a:latin typeface="Roboto Mono"/>
                <a:ea typeface="Roboto Mono"/>
                <a:cs typeface="Roboto Mono"/>
                <a:sym typeface="Roboto Mono"/>
              </a:rPr>
              <a:t>GANPropagator</a:t>
            </a:r>
            <a:r>
              <a:rPr lang="en" sz="1100">
                <a:solidFill>
                  <a:schemeClr val="dk1"/>
                </a:solidFill>
              </a:rPr>
              <a:t> framework which is still a work in progress, which was developed as part of this project. The propagator uses the trained GAN as an engine to simulate complete trajectories.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Then bench mark it’s performance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